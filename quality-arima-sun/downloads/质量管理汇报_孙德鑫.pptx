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5" r:id="rId5"/>
    <p:sldId id="259" r:id="rId6"/>
    <p:sldId id="260" r:id="rId7"/>
    <p:sldId id="261" r:id="rId8"/>
    <p:sldId id="262" r:id="rId9"/>
    <p:sldId id="263" r:id="rId10"/>
    <p:sldId id="266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1559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大家好，我是孙德鑫。今天汇报的问题是：生产检测不合格率能否提前预测？我使用公开的半导体制造检测数据，建立ARIMA模型，预测下一组20条检测记录的不合格率，再与两种简单平均方法比较。重点是说明方法用来解决什么问题，以及它在真实数据中有什么效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质量管理中，检测能够告诉我们哪些样本已经失败。我的分析把问题向前推进一步：过去的检测表现，能否帮助判断接下来一组记录的失败比例？如果预测有一定价值，它可以为检查安排提供辅助信息。因此，我既要建立预测，也要用后面的真实记录检验，而不是仅仅展示拟合曲线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数据来自UCI的SECOM数据集。这次使用检测时间和通过、失败标签，共1567条记录，其中104条失败，样本总体不合格率约为6.64%。记录从2008年7月19日到10月17日，每天的记录数不同。如果直接按天统计，小样本日期的比例可能特别不稳定。因此，我按时间排序，每连续20条组成一个分析组，让各组分母一致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展示原始文件前三行，解释标签和日期。接着说明run_analysis.py直接读取原始标签，按时间排序，每20条分组，最后7条只进入总体描述。导入目录另有整理后的检测记录和78组统计CSV供查看。输出包括16组滚动预测、训练模型比较、图表和analysis.json。数据来源：https://archive.ics.uci.edu/dataset/179/seco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726872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里用20个芯片状对象表示20条真实检测记录。以第1组为例，揭示检测结果后，里面有4条失败，所以这一组的不合格率是4除以20，等于20%。三维场景的作用是把一条条记录怎样变成一个质量指标讲清楚。芯片外形和位置只是教学示意。全部记录组成78个完整分析组，剩余7条只计入总体描述。这里的组是分析时划分的，不是数据提供的生产批次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这张图是78组的不合格率，横轴按检测记录顺序排列。29组没有失败，但最高的一组达到35%。可以看到，波动并不平滑，偶尔会突然上升。这说明预测不能只看一条平均线，也提醒我们：模型可能无法提前捕捉每次突发波动。接下来我保留最后16组，检验模型对未来记录的预测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我用前62组训练与选择模型，后16组做滚动检验。由于比例中存在零值，先做平滑和logit变换，再在训练数据中比较低阶ARIMA模型，选出ARIMA零、一、一。可以简单理解为：分析前后变化，并利用过去的预测误差调整下一次预测。每次只预测下一组；得到真实结果后，再更新历史。两个对照是历史累计平均和最近5组平均。三种方法都只能看到当时已经发生的记录，所以比较口径一致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现在先给出预测，再揭示真实结果。第67组是一个很有代表性的例子：ARIMA预测不合格率约为3.61%，实际却达到25%，也就是20条中有5条失败，绝对误差约21.39个百分点。模型没有预测到这次突然上升。因此，预测可以提供辅助判断，但实际检测仍然重要。网页可以逐组揭示结果，让大家看到整个检验过程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把16次预测放在一起，ARIMA的平均绝对误差是5.47个百分点，历史累计平均是6.08，最近5组平均是5.94。相对历史平均法，ARIMA的MAE降低约9.97%，绝对改善约0.61个百分点。不过，平方后再平均的RMSE更重视较大的误差。ARIMA的RMSE是7.49，高于两个对照。这两个指标合起来说明：本次平均绝对误差有所改善，但较大的预测误差没有改善。不能笼统说复杂模型全面更好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段视频概括原始记录、构造不合格率、预测与实际检验。播放完说明六项材料已经按目录整理。软件安装文件为Python官方Windows64位安装程序，配有离线统计库及安装说明。网页顶部的提交材料入口可查看原始记录、导入流程和结果预览。视频是原创数据动画，使用合成旁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294573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dirty="0"/>
              <a:t>回到老师的问题：我用ARIMA做了什么？我用它预测下一组检测样本的不合格率，并通过真实后续记录，与简单平均法比较它的实际价值。本次结果提示三个管理上的做法：保留简单方法作为对照；把预测与实际检测结合，关注明显偏离；进一步加入设备和工艺信息，检验是否能改善突发波动预测。我的汇报到这里，谢谢大家。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.jpg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2"/>
          <p:cNvPicPr>
            <a:picLocks noChangeAspect="1"/>
          </p:cNvPicPr>
          <p:nvPr/>
        </p:nvPicPr>
        <p:blipFill>
          <a:blip r:embed="rId3"/>
          <a:srcRect t="27" b="27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B2233">
                  <a:alpha val="94000"/>
                </a:srgbClr>
              </a:gs>
              <a:gs pos="60000">
                <a:srgbClr val="0B2233">
                  <a:alpha val="45000"/>
                </a:srgbClr>
              </a:gs>
              <a:gs pos="100000">
                <a:srgbClr val="0B2233">
                  <a:alpha val="0"/>
                </a:srgbClr>
              </a:gs>
            </a:gsLst>
            <a:lin ang="2700000" scaled="1"/>
          </a:gra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561975" y="844868"/>
            <a:ext cx="4914900" cy="2898457"/>
            <a:chOff x="561975" y="844868"/>
            <a:chExt cx="4914900" cy="2898457"/>
          </a:xfrm>
        </p:grpSpPr>
        <p:sp>
          <p:nvSpPr>
            <p:cNvPr id="4" name="TextBox 4"/>
            <p:cNvSpPr txBox="1"/>
            <p:nvPr/>
          </p:nvSpPr>
          <p:spPr>
            <a:xfrm>
              <a:off x="601980" y="8448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质量管理学 · 真实数据分析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61975" y="1990725"/>
              <a:ext cx="4914900" cy="1752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6600"/>
                </a:lnSpc>
              </a:pPr>
              <a:r>
                <a:rPr lang="zh-CN" sz="45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生产检测不合格率能否提前预测？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24840" y="3901440"/>
            <a:ext cx="3130106" cy="965835"/>
            <a:chOff x="624840" y="3901440"/>
            <a:chExt cx="3130106" cy="965835"/>
          </a:xfrm>
        </p:grpSpPr>
        <p:sp>
          <p:nvSpPr>
            <p:cNvPr id="7" name="TextBox 7"/>
            <p:cNvSpPr txBox="1"/>
            <p:nvPr/>
          </p:nvSpPr>
          <p:spPr>
            <a:xfrm>
              <a:off x="624840" y="3901440"/>
              <a:ext cx="313010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基于SECOM数据的ARIMA分析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624840" y="4501515"/>
              <a:ext cx="172593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汇报人：孙德鑫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28650" y="5486400"/>
            <a:ext cx="5040630" cy="766762"/>
            <a:chOff x="628650" y="5486400"/>
            <a:chExt cx="5040630" cy="766762"/>
          </a:xfrm>
        </p:grpSpPr>
        <p:sp>
          <p:nvSpPr>
            <p:cNvPr id="10" name="TextBox 10"/>
            <p:cNvSpPr txBox="1"/>
            <p:nvPr/>
          </p:nvSpPr>
          <p:spPr>
            <a:xfrm>
              <a:off x="628650" y="5486400"/>
              <a:ext cx="1176338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1,567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2867025" y="5486400"/>
              <a:ext cx="51625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78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4533900" y="5486400"/>
              <a:ext cx="51625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16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49605" y="5978842"/>
              <a:ext cx="7543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检测记录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2887980" y="5978842"/>
              <a:ext cx="93440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完整分析组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554855" y="5978842"/>
              <a:ext cx="11144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逐组预测检验</a:t>
              </a:r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634365" y="6468428"/>
            <a:ext cx="313505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来源：UCI SECOM（2008） 背景为AI生成概念插图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9" grpId="0"/>
      <p:bldP spid="16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6F7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3400" y="511492"/>
            <a:ext cx="7637145" cy="1050608"/>
            <a:chOff x="533400" y="511492"/>
            <a:chExt cx="7637145" cy="1050608"/>
          </a:xfrm>
        </p:grpSpPr>
        <p:sp>
          <p:nvSpPr>
            <p:cNvPr id="3" name="TextBox 3"/>
            <p:cNvSpPr txBox="1"/>
            <p:nvPr/>
          </p:nvSpPr>
          <p:spPr>
            <a:xfrm>
              <a:off x="554355" y="511492"/>
              <a:ext cx="7543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研究问题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33400" y="952500"/>
              <a:ext cx="763714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过去的质量表现，能否帮助下一次检查？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71500" y="2352675"/>
            <a:ext cx="3886200" cy="2809875"/>
            <a:chOff x="571500" y="2352675"/>
            <a:chExt cx="3886200" cy="2809875"/>
          </a:xfrm>
        </p:grpSpPr>
        <p:sp>
          <p:nvSpPr>
            <p:cNvPr id="6" name="TextBox 6"/>
            <p:cNvSpPr txBox="1"/>
            <p:nvPr/>
          </p:nvSpPr>
          <p:spPr>
            <a:xfrm>
              <a:off x="571500" y="2352675"/>
              <a:ext cx="3886200" cy="12287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4875"/>
                </a:lnSpc>
              </a:pPr>
              <a:r>
                <a:rPr lang="zh-CN" sz="300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看见已经发生的失败，再尝试预测下一组。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96265" y="3977640"/>
              <a:ext cx="3474720" cy="11849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t" anchorCtr="0"/>
            <a:lstStyle/>
            <a:p>
              <a:pPr algn="l">
                <a:lnSpc>
                  <a:spcPts val="3225"/>
                </a:lnSpc>
              </a:pPr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对象：接下来20条检测记录问题：预测是否优于简单取平均？用途：为质量检查提供辅助信息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572250" y="2095500"/>
            <a:ext cx="5048250" cy="3524250"/>
            <a:chOff x="6572250" y="2095500"/>
            <a:chExt cx="5048250" cy="3524250"/>
          </a:xfrm>
        </p:grpSpPr>
        <p:pic>
          <p:nvPicPr>
            <p:cNvPr id="9" name="Image 9"/>
            <p:cNvPicPr>
              <a:picLocks noChangeAspect="1"/>
            </p:cNvPicPr>
            <p:nvPr/>
          </p:nvPicPr>
          <p:blipFill>
            <a:blip r:embed="rId3"/>
            <a:srcRect l="19383"/>
            <a:stretch>
              <a:fillRect/>
            </a:stretch>
          </p:blipFill>
          <p:spPr>
            <a:xfrm>
              <a:off x="6572250" y="2095500"/>
              <a:ext cx="5048250" cy="3524250"/>
            </a:xfrm>
            <a:prstGeom prst="rect">
              <a:avLst/>
            </a:prstGeom>
          </p:spPr>
        </p:pic>
        <p:sp>
          <p:nvSpPr>
            <p:cNvPr id="10" name="Rectangle 10"/>
            <p:cNvSpPr/>
            <p:nvPr/>
          </p:nvSpPr>
          <p:spPr>
            <a:xfrm>
              <a:off x="6572250" y="5095875"/>
              <a:ext cx="5048250" cy="523875"/>
            </a:xfrm>
            <a:prstGeom prst="rect">
              <a:avLst/>
            </a:prstGeom>
            <a:solidFill>
              <a:srgbClr val="0B223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6806565" y="5253990"/>
              <a:ext cx="38862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用后续真实记录，检验预测是否有用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558165" y="6363652"/>
            <a:ext cx="2890028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07484"/>
                </a:solidFill>
                <a:latin typeface="Arial"/>
                <a:ea typeface="Microsoft YaHei"/>
                <a:cs typeface="Arial"/>
              </a:rPr>
              <a:t>研究对象：SECOM公开检测样本 图为概念插图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1226165" y="6363652"/>
            <a:ext cx="411972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1050">
                <a:solidFill>
                  <a:srgbClr val="607484"/>
                </a:solidFill>
                <a:latin typeface="Arial"/>
                <a:ea typeface="Microsoft YaHei"/>
                <a:cs typeface="Arial"/>
              </a:rPr>
              <a:t>02 / 11</a:t>
            </a:r>
            <a:endParaRPr lang="zh-CN" sz="1050" dirty="0">
              <a:solidFill>
                <a:srgbClr val="607484"/>
              </a:solidFill>
              <a:latin typeface="Arial"/>
              <a:ea typeface="Microsoft YaHei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8" grpId="0"/>
      <p:bldP spid="1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533400" y="501968"/>
            <a:ext cx="6545009" cy="1422082"/>
            <a:chOff x="533400" y="501968"/>
            <a:chExt cx="6545009" cy="1422082"/>
          </a:xfrm>
        </p:grpSpPr>
        <p:sp>
          <p:nvSpPr>
            <p:cNvPr id="3" name="TextBox 3"/>
            <p:cNvSpPr txBox="1"/>
            <p:nvPr/>
          </p:nvSpPr>
          <p:spPr>
            <a:xfrm>
              <a:off x="554355" y="501968"/>
              <a:ext cx="7543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真实数据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33400" y="952500"/>
              <a:ext cx="6545009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1,567条记录中，有104条检测失败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67690" y="1558290"/>
              <a:ext cx="532638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使用检测时间和通过／失败标签，构造质量指标。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542925" y="2381250"/>
            <a:ext cx="10982325" cy="1628775"/>
            <a:chOff x="542925" y="2381250"/>
            <a:chExt cx="10982325" cy="1628775"/>
          </a:xfrm>
        </p:grpSpPr>
        <p:sp>
          <p:nvSpPr>
            <p:cNvPr id="7" name="Line 7"/>
            <p:cNvSpPr/>
            <p:nvPr/>
          </p:nvSpPr>
          <p:spPr>
            <a:xfrm>
              <a:off x="619125" y="2381250"/>
              <a:ext cx="3095625" cy="9525"/>
            </a:xfrm>
            <a:custGeom>
              <a:avLst/>
              <a:gdLst/>
              <a:ahLst/>
              <a:cxnLst/>
              <a:rect l="l" t="t" r="r" b="b"/>
              <a:pathLst>
                <a:path w="3095625" h="9525">
                  <a:moveTo>
                    <a:pt x="0" y="0"/>
                  </a:moveTo>
                  <a:lnTo>
                    <a:pt x="3095625" y="0"/>
                  </a:lnTo>
                </a:path>
              </a:pathLst>
            </a:custGeom>
            <a:noFill/>
            <a:ln w="19050">
              <a:solidFill>
                <a:srgbClr val="D7E2E7"/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4286250" y="2381250"/>
              <a:ext cx="3095625" cy="9525"/>
            </a:xfrm>
            <a:custGeom>
              <a:avLst/>
              <a:gdLst/>
              <a:ahLst/>
              <a:cxnLst/>
              <a:rect l="l" t="t" r="r" b="b"/>
              <a:pathLst>
                <a:path w="3095625" h="9525">
                  <a:moveTo>
                    <a:pt x="0" y="0"/>
                  </a:moveTo>
                  <a:lnTo>
                    <a:pt x="3095625" y="0"/>
                  </a:lnTo>
                </a:path>
              </a:pathLst>
            </a:custGeom>
            <a:noFill/>
            <a:ln w="19050">
              <a:solidFill>
                <a:srgbClr val="D7E2E7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7953375" y="2381250"/>
              <a:ext cx="3571875" cy="9525"/>
            </a:xfrm>
            <a:custGeom>
              <a:avLst/>
              <a:gdLst/>
              <a:ahLst/>
              <a:cxnLst/>
              <a:rect l="l" t="t" r="r" b="b"/>
              <a:pathLst>
                <a:path w="3571875" h="9525">
                  <a:moveTo>
                    <a:pt x="0" y="0"/>
                  </a:moveTo>
                  <a:lnTo>
                    <a:pt x="3571875" y="0"/>
                  </a:lnTo>
                </a:path>
              </a:pathLst>
            </a:custGeom>
            <a:noFill/>
            <a:ln w="19050">
              <a:solidFill>
                <a:srgbClr val="D7E2E7"/>
              </a:solidFill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542925" y="2733675"/>
              <a:ext cx="2352675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00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1,567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4210050" y="2733675"/>
              <a:ext cx="1472565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000" dirty="0">
                  <a:solidFill>
                    <a:srgbClr val="EB7954"/>
                  </a:solidFill>
                  <a:latin typeface="Arial"/>
                  <a:ea typeface="Microsoft YaHei"/>
                  <a:cs typeface="Arial"/>
                </a:rPr>
                <a:t>104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7877175" y="2733675"/>
              <a:ext cx="2512695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00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6.64%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624840" y="3644265"/>
              <a:ext cx="10058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检测记录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291965" y="3644265"/>
              <a:ext cx="10058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检测失败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7959090" y="3644265"/>
              <a:ext cx="196596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样本总体不合格率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596265" y="4667250"/>
            <a:ext cx="10928985" cy="1228725"/>
            <a:chOff x="596265" y="4667250"/>
            <a:chExt cx="10928985" cy="1228725"/>
          </a:xfrm>
        </p:grpSpPr>
        <p:sp>
          <p:nvSpPr>
            <p:cNvPr id="17" name="Line 17"/>
            <p:cNvSpPr/>
            <p:nvPr/>
          </p:nvSpPr>
          <p:spPr>
            <a:xfrm>
              <a:off x="619125" y="4667250"/>
              <a:ext cx="10906125" cy="9525"/>
            </a:xfrm>
            <a:custGeom>
              <a:avLst/>
              <a:gdLst/>
              <a:ahLst/>
              <a:cxnLst/>
              <a:rect l="l" t="t" r="r" b="b"/>
              <a:pathLst>
                <a:path w="10906125" h="9525">
                  <a:moveTo>
                    <a:pt x="0" y="0"/>
                  </a:moveTo>
                  <a:lnTo>
                    <a:pt x="10906125" y="0"/>
                  </a:lnTo>
                </a:path>
              </a:pathLst>
            </a:custGeom>
            <a:noFill/>
            <a:ln w="38100">
              <a:solidFill>
                <a:srgbClr val="1B9E9A"/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596265" y="4853940"/>
              <a:ext cx="1365885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2008.07.19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596765" y="4853940"/>
              <a:ext cx="222999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86个日期有检测记录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9787890" y="4853940"/>
              <a:ext cx="1365885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2008.10.17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96265" y="5530215"/>
              <a:ext cx="609447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每天记录数1—62条。按检测顺序分组，统一每组样本量。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558165" y="6363652"/>
            <a:ext cx="475926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07484"/>
                </a:solidFill>
                <a:latin typeface="Arial"/>
                <a:ea typeface="Microsoft YaHei"/>
                <a:cs typeface="Arial"/>
              </a:rPr>
              <a:t>来源：UCI SECOM，McCann &amp; Johnston（2008），DOI: 10.24432/C54305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26165" y="6363652"/>
            <a:ext cx="411972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1050">
                <a:solidFill>
                  <a:srgbClr val="607484"/>
                </a:solidFill>
                <a:latin typeface="Arial"/>
                <a:ea typeface="Microsoft YaHei"/>
                <a:cs typeface="Arial"/>
              </a:rPr>
              <a:t>03 / 11</a:t>
            </a:r>
            <a:endParaRPr lang="zh-CN" sz="1050" dirty="0">
              <a:solidFill>
                <a:srgbClr val="607484"/>
              </a:solidFill>
              <a:latin typeface="Arial"/>
              <a:ea typeface="Microsoft YaHei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6" grpId="0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15F54E66-EBE6-45A6-AB24-3DA55C74600B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04775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168C89"/>
                </a:solidFill>
              </a:defRPr>
            </a:defPPr>
            <a:lvl1pPr>
              <a:defRPr sz="1350" b="0">
                <a:solidFill>
                  <a:srgbClr val="168C89"/>
                </a:solidFill>
              </a:defRPr>
            </a:lvl1pPr>
            <a:lvl2pPr>
              <a:defRPr sz="1350" b="0">
                <a:solidFill>
                  <a:srgbClr val="168C89"/>
                </a:solidFill>
              </a:defRPr>
            </a:lvl2pPr>
            <a:lvl3pPr>
              <a:defRPr sz="1350" b="0">
                <a:solidFill>
                  <a:srgbClr val="168C89"/>
                </a:solidFill>
              </a:defRPr>
            </a:lvl3pPr>
            <a:lvl4pPr>
              <a:defRPr sz="1350" b="0">
                <a:solidFill>
                  <a:srgbClr val="168C89"/>
                </a:solidFill>
              </a:defRPr>
            </a:lvl4pPr>
            <a:lvl5pPr>
              <a:defRPr sz="1350" b="0">
                <a:solidFill>
                  <a:srgbClr val="168C89"/>
                </a:solidFill>
              </a:defRPr>
            </a:lvl5pPr>
            <a:lvl6pPr>
              <a:defRPr sz="1350" b="0">
                <a:solidFill>
                  <a:srgbClr val="168C89"/>
                </a:solidFill>
              </a:defRPr>
            </a:lvl6pPr>
            <a:lvl7pPr>
              <a:defRPr sz="1350" b="0">
                <a:solidFill>
                  <a:srgbClr val="168C89"/>
                </a:solidFill>
              </a:defRPr>
            </a:lvl7pPr>
            <a:lvl8pPr>
              <a:defRPr sz="1350" b="0">
                <a:solidFill>
                  <a:srgbClr val="168C89"/>
                </a:solidFill>
              </a:defRPr>
            </a:lvl8pPr>
            <a:lvl9pPr>
              <a:defRPr sz="1350" b="0">
                <a:solidFill>
                  <a:srgbClr val="168C89"/>
                </a:solidFill>
              </a:defRPr>
            </a:lvl9pPr>
          </a:lstStyle>
          <a:p>
            <a:pPr>
              <a:defRPr sz="1350" b="0">
                <a:solidFill>
                  <a:srgbClr val="168C89"/>
                </a:solidFill>
              </a:defRPr>
            </a:pPr>
            <a:r>
              <a:rPr sz="1350" b="0">
                <a:solidFill>
                  <a:srgbClr val="168C89"/>
                </a:solidFill>
              </a:rPr>
              <a:t>原始数据与文件处理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CC8D188-350B-4A8B-9CC5-D568DDEAB8FF}"/>
              </a:ext>
            </a:extLst>
          </p:cNvPr>
          <p:cNvSpPr>
            <a:spLocks noGrp="1"/>
          </p:cNvSpPr>
          <p:nvPr/>
        </p:nvSpPr>
        <p:spPr>
          <a:xfrm>
            <a:off x="571500" y="904875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0B2233"/>
                </a:solidFill>
              </a:defRPr>
            </a:defPPr>
            <a:lvl1pPr>
              <a:defRPr sz="3000" b="1">
                <a:solidFill>
                  <a:srgbClr val="0B2233"/>
                </a:solidFill>
              </a:defRPr>
            </a:lvl1pPr>
            <a:lvl2pPr>
              <a:defRPr sz="3000" b="1">
                <a:solidFill>
                  <a:srgbClr val="0B2233"/>
                </a:solidFill>
              </a:defRPr>
            </a:lvl2pPr>
            <a:lvl3pPr>
              <a:defRPr sz="3000" b="1">
                <a:solidFill>
                  <a:srgbClr val="0B2233"/>
                </a:solidFill>
              </a:defRPr>
            </a:lvl3pPr>
            <a:lvl4pPr>
              <a:defRPr sz="3000" b="1">
                <a:solidFill>
                  <a:srgbClr val="0B2233"/>
                </a:solidFill>
              </a:defRPr>
            </a:lvl4pPr>
            <a:lvl5pPr>
              <a:defRPr sz="3000" b="1">
                <a:solidFill>
                  <a:srgbClr val="0B2233"/>
                </a:solidFill>
              </a:defRPr>
            </a:lvl5pPr>
            <a:lvl6pPr>
              <a:defRPr sz="3000" b="1">
                <a:solidFill>
                  <a:srgbClr val="0B2233"/>
                </a:solidFill>
              </a:defRPr>
            </a:lvl6pPr>
            <a:lvl7pPr>
              <a:defRPr sz="3000" b="1">
                <a:solidFill>
                  <a:srgbClr val="0B2233"/>
                </a:solidFill>
              </a:defRPr>
            </a:lvl7pPr>
            <a:lvl8pPr>
              <a:defRPr sz="3000" b="1">
                <a:solidFill>
                  <a:srgbClr val="0B2233"/>
                </a:solidFill>
              </a:defRPr>
            </a:lvl8pPr>
            <a:lvl9pPr>
              <a:defRPr sz="3000" b="1">
                <a:solidFill>
                  <a:srgbClr val="0B2233"/>
                </a:solidFill>
              </a:defRPr>
            </a:lvl9pPr>
          </a:lstStyle>
          <a:p>
            <a:pPr>
              <a:defRPr sz="3000" b="1">
                <a:solidFill>
                  <a:srgbClr val="0B2233"/>
                </a:solidFill>
              </a:defRPr>
            </a:pPr>
            <a:r>
              <a:rPr sz="3000" b="1">
                <a:solidFill>
                  <a:srgbClr val="0B2233"/>
                </a:solidFill>
              </a:rPr>
              <a:t>原始标签如何成为预测结果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8F9B12E-113F-4D7B-A256-0843A21EF5DB}"/>
              </a:ext>
            </a:extLst>
          </p:cNvPr>
          <p:cNvSpPr>
            <a:spLocks noGrp="1"/>
          </p:cNvSpPr>
          <p:nvPr/>
        </p:nvSpPr>
        <p:spPr>
          <a:xfrm>
            <a:off x="571500" y="1857375"/>
            <a:ext cx="58102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B2233"/>
                </a:solidFill>
              </a:defRPr>
            </a:defPPr>
            <a:lvl1pPr>
              <a:defRPr sz="1875" b="1">
                <a:solidFill>
                  <a:srgbClr val="0B2233"/>
                </a:solidFill>
              </a:defRPr>
            </a:lvl1pPr>
            <a:lvl2pPr>
              <a:defRPr sz="1875" b="1">
                <a:solidFill>
                  <a:srgbClr val="0B2233"/>
                </a:solidFill>
              </a:defRPr>
            </a:lvl2pPr>
            <a:lvl3pPr>
              <a:defRPr sz="1875" b="1">
                <a:solidFill>
                  <a:srgbClr val="0B2233"/>
                </a:solidFill>
              </a:defRPr>
            </a:lvl3pPr>
            <a:lvl4pPr>
              <a:defRPr sz="1875" b="1">
                <a:solidFill>
                  <a:srgbClr val="0B2233"/>
                </a:solidFill>
              </a:defRPr>
            </a:lvl4pPr>
            <a:lvl5pPr>
              <a:defRPr sz="1875" b="1">
                <a:solidFill>
                  <a:srgbClr val="0B2233"/>
                </a:solidFill>
              </a:defRPr>
            </a:lvl5pPr>
            <a:lvl6pPr>
              <a:defRPr sz="1875" b="1">
                <a:solidFill>
                  <a:srgbClr val="0B2233"/>
                </a:solidFill>
              </a:defRPr>
            </a:lvl6pPr>
            <a:lvl7pPr>
              <a:defRPr sz="1875" b="1">
                <a:solidFill>
                  <a:srgbClr val="0B2233"/>
                </a:solidFill>
              </a:defRPr>
            </a:lvl7pPr>
            <a:lvl8pPr>
              <a:defRPr sz="1875" b="1">
                <a:solidFill>
                  <a:srgbClr val="0B2233"/>
                </a:solidFill>
              </a:defRPr>
            </a:lvl8pPr>
            <a:lvl9pPr>
              <a:defRPr sz="1875" b="1">
                <a:solidFill>
                  <a:srgbClr val="0B2233"/>
                </a:solidFill>
              </a:defRPr>
            </a:lvl9pPr>
          </a:lstStyle>
          <a:p>
            <a:pPr>
              <a:defRPr sz="1875" b="1">
                <a:solidFill>
                  <a:srgbClr val="0B2233"/>
                </a:solidFill>
              </a:defRPr>
            </a:pPr>
            <a:r>
              <a:rPr sz="1875" b="1">
                <a:solidFill>
                  <a:srgbClr val="0B2233"/>
                </a:solidFill>
              </a:rPr>
              <a:t>secom_labels.data 原始前三行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6342535-B606-4B94-81AB-933814441A16}"/>
              </a:ext>
            </a:extLst>
          </p:cNvPr>
          <p:cNvSpPr>
            <a:spLocks noGrp="1"/>
          </p:cNvSpPr>
          <p:nvPr/>
        </p:nvSpPr>
        <p:spPr>
          <a:xfrm>
            <a:off x="571500" y="2476500"/>
            <a:ext cx="5810250" cy="1428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0B2233"/>
                </a:solidFill>
              </a:defRPr>
            </a:defPPr>
            <a:lvl1pPr>
              <a:defRPr sz="2025" b="0">
                <a:solidFill>
                  <a:srgbClr val="0B2233"/>
                </a:solidFill>
              </a:defRPr>
            </a:lvl1pPr>
            <a:lvl2pPr>
              <a:defRPr sz="2025" b="0">
                <a:solidFill>
                  <a:srgbClr val="0B2233"/>
                </a:solidFill>
              </a:defRPr>
            </a:lvl2pPr>
            <a:lvl3pPr>
              <a:defRPr sz="2025" b="0">
                <a:solidFill>
                  <a:srgbClr val="0B2233"/>
                </a:solidFill>
              </a:defRPr>
            </a:lvl3pPr>
            <a:lvl4pPr>
              <a:defRPr sz="2025" b="0">
                <a:solidFill>
                  <a:srgbClr val="0B2233"/>
                </a:solidFill>
              </a:defRPr>
            </a:lvl4pPr>
            <a:lvl5pPr>
              <a:defRPr sz="2025" b="0">
                <a:solidFill>
                  <a:srgbClr val="0B2233"/>
                </a:solidFill>
              </a:defRPr>
            </a:lvl5pPr>
            <a:lvl6pPr>
              <a:defRPr sz="2025" b="0">
                <a:solidFill>
                  <a:srgbClr val="0B2233"/>
                </a:solidFill>
              </a:defRPr>
            </a:lvl6pPr>
            <a:lvl7pPr>
              <a:defRPr sz="2025" b="0">
                <a:solidFill>
                  <a:srgbClr val="0B2233"/>
                </a:solidFill>
              </a:defRPr>
            </a:lvl7pPr>
            <a:lvl8pPr>
              <a:defRPr sz="2025" b="0">
                <a:solidFill>
                  <a:srgbClr val="0B2233"/>
                </a:solidFill>
              </a:defRPr>
            </a:lvl8pPr>
            <a:lvl9pPr>
              <a:defRPr sz="2025" b="0">
                <a:solidFill>
                  <a:srgbClr val="0B2233"/>
                </a:solidFill>
              </a:defRPr>
            </a:lvl9pPr>
          </a:lstStyle>
          <a:p>
            <a:pPr>
              <a:defRPr sz="2025" b="0">
                <a:solidFill>
                  <a:srgbClr val="0B2233"/>
                </a:solidFill>
              </a:defRPr>
            </a:pPr>
            <a:r>
              <a:rPr sz="2025" b="0">
                <a:solidFill>
                  <a:srgbClr val="0B2233"/>
                </a:solidFill>
              </a:rPr>
              <a:t>-1 "19/07/2008 11:55:00"</a:t>
            </a:r>
          </a:p>
          <a:p>
            <a:pPr>
              <a:defRPr sz="2025" b="0">
                <a:solidFill>
                  <a:srgbClr val="0B2233"/>
                </a:solidFill>
              </a:defRPr>
            </a:pPr>
            <a:r>
              <a:rPr sz="2025" b="0">
                <a:solidFill>
                  <a:srgbClr val="0B2233"/>
                </a:solidFill>
              </a:rPr>
              <a:t>-1 "19/07/2008 12:32:00"</a:t>
            </a:r>
          </a:p>
          <a:p>
            <a:pPr>
              <a:defRPr sz="2025" b="0">
                <a:solidFill>
                  <a:srgbClr val="0B2233"/>
                </a:solidFill>
              </a:defRPr>
            </a:pPr>
            <a:r>
              <a:rPr sz="2025" b="0">
                <a:solidFill>
                  <a:srgbClr val="0B2233"/>
                </a:solidFill>
              </a:rPr>
              <a:t> 1 "19/07/2008 13:17:00"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398BBB4-232C-4C11-ADFE-9A2C015FEE0A}"/>
              </a:ext>
            </a:extLst>
          </p:cNvPr>
          <p:cNvSpPr>
            <a:spLocks noGrp="1"/>
          </p:cNvSpPr>
          <p:nvPr/>
        </p:nvSpPr>
        <p:spPr>
          <a:xfrm>
            <a:off x="571500" y="4095750"/>
            <a:ext cx="561975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168C89"/>
                </a:solidFill>
              </a:defRPr>
            </a:defPPr>
            <a:lvl1pPr>
              <a:defRPr sz="1875" b="0">
                <a:solidFill>
                  <a:srgbClr val="168C89"/>
                </a:solidFill>
              </a:defRPr>
            </a:lvl1pPr>
            <a:lvl2pPr>
              <a:defRPr sz="1875" b="0">
                <a:solidFill>
                  <a:srgbClr val="168C89"/>
                </a:solidFill>
              </a:defRPr>
            </a:lvl2pPr>
            <a:lvl3pPr>
              <a:defRPr sz="1875" b="0">
                <a:solidFill>
                  <a:srgbClr val="168C89"/>
                </a:solidFill>
              </a:defRPr>
            </a:lvl3pPr>
            <a:lvl4pPr>
              <a:defRPr sz="1875" b="0">
                <a:solidFill>
                  <a:srgbClr val="168C89"/>
                </a:solidFill>
              </a:defRPr>
            </a:lvl4pPr>
            <a:lvl5pPr>
              <a:defRPr sz="1875" b="0">
                <a:solidFill>
                  <a:srgbClr val="168C89"/>
                </a:solidFill>
              </a:defRPr>
            </a:lvl5pPr>
            <a:lvl6pPr>
              <a:defRPr sz="1875" b="0">
                <a:solidFill>
                  <a:srgbClr val="168C89"/>
                </a:solidFill>
              </a:defRPr>
            </a:lvl6pPr>
            <a:lvl7pPr>
              <a:defRPr sz="1875" b="0">
                <a:solidFill>
                  <a:srgbClr val="168C89"/>
                </a:solidFill>
              </a:defRPr>
            </a:lvl7pPr>
            <a:lvl8pPr>
              <a:defRPr sz="1875" b="0">
                <a:solidFill>
                  <a:srgbClr val="168C89"/>
                </a:solidFill>
              </a:defRPr>
            </a:lvl8pPr>
            <a:lvl9pPr>
              <a:defRPr sz="1875" b="0">
                <a:solidFill>
                  <a:srgbClr val="168C89"/>
                </a:solidFill>
              </a:defRPr>
            </a:lvl9pPr>
          </a:lstStyle>
          <a:p>
            <a:pPr>
              <a:defRPr sz="1875" b="0">
                <a:solidFill>
                  <a:srgbClr val="168C89"/>
                </a:solidFill>
              </a:defRPr>
            </a:pPr>
            <a:r>
              <a:rPr sz="1875" b="0">
                <a:solidFill>
                  <a:srgbClr val="168C89"/>
                </a:solidFill>
              </a:rPr>
              <a:t>−1 表示通过，1 表示失败</a:t>
            </a:r>
          </a:p>
          <a:p>
            <a:pPr>
              <a:defRPr sz="1875" b="0">
                <a:solidFill>
                  <a:srgbClr val="168C89"/>
                </a:solidFill>
              </a:defRPr>
            </a:pPr>
            <a:r>
              <a:rPr sz="1875" b="0">
                <a:solidFill>
                  <a:srgbClr val="168C89"/>
                </a:solidFill>
              </a:rPr>
              <a:t>引号内是原始检测日期和时间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8D9FF51-2AAD-491A-8E22-67DB29953DC4}"/>
              </a:ext>
            </a:extLst>
          </p:cNvPr>
          <p:cNvSpPr>
            <a:spLocks noGrp="1"/>
          </p:cNvSpPr>
          <p:nvPr/>
        </p:nvSpPr>
        <p:spPr>
          <a:xfrm>
            <a:off x="6858000" y="1857375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0B2233"/>
                </a:solidFill>
              </a:defRPr>
            </a:defPPr>
            <a:lvl1pPr>
              <a:defRPr sz="1875" b="1">
                <a:solidFill>
                  <a:srgbClr val="0B2233"/>
                </a:solidFill>
              </a:defRPr>
            </a:lvl1pPr>
            <a:lvl2pPr>
              <a:defRPr sz="1875" b="1">
                <a:solidFill>
                  <a:srgbClr val="0B2233"/>
                </a:solidFill>
              </a:defRPr>
            </a:lvl2pPr>
            <a:lvl3pPr>
              <a:defRPr sz="1875" b="1">
                <a:solidFill>
                  <a:srgbClr val="0B2233"/>
                </a:solidFill>
              </a:defRPr>
            </a:lvl3pPr>
            <a:lvl4pPr>
              <a:defRPr sz="1875" b="1">
                <a:solidFill>
                  <a:srgbClr val="0B2233"/>
                </a:solidFill>
              </a:defRPr>
            </a:lvl4pPr>
            <a:lvl5pPr>
              <a:defRPr sz="1875" b="1">
                <a:solidFill>
                  <a:srgbClr val="0B2233"/>
                </a:solidFill>
              </a:defRPr>
            </a:lvl5pPr>
            <a:lvl6pPr>
              <a:defRPr sz="1875" b="1">
                <a:solidFill>
                  <a:srgbClr val="0B2233"/>
                </a:solidFill>
              </a:defRPr>
            </a:lvl6pPr>
            <a:lvl7pPr>
              <a:defRPr sz="1875" b="1">
                <a:solidFill>
                  <a:srgbClr val="0B2233"/>
                </a:solidFill>
              </a:defRPr>
            </a:lvl7pPr>
            <a:lvl8pPr>
              <a:defRPr sz="1875" b="1">
                <a:solidFill>
                  <a:srgbClr val="0B2233"/>
                </a:solidFill>
              </a:defRPr>
            </a:lvl8pPr>
            <a:lvl9pPr>
              <a:defRPr sz="1875" b="1">
                <a:solidFill>
                  <a:srgbClr val="0B2233"/>
                </a:solidFill>
              </a:defRPr>
            </a:lvl9pPr>
          </a:lstStyle>
          <a:p>
            <a:pPr>
              <a:defRPr sz="1875" b="1">
                <a:solidFill>
                  <a:srgbClr val="0B2233"/>
                </a:solidFill>
              </a:defRPr>
            </a:pPr>
            <a:r>
              <a:rPr sz="1875" b="1">
                <a:solidFill>
                  <a:srgbClr val="0B2233"/>
                </a:solidFill>
              </a:rPr>
              <a:t>导入和导出过程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299DDE9-07C0-4ED1-AADF-CB08CB3937AB}"/>
              </a:ext>
            </a:extLst>
          </p:cNvPr>
          <p:cNvSpPr>
            <a:spLocks noGrp="1"/>
          </p:cNvSpPr>
          <p:nvPr/>
        </p:nvSpPr>
        <p:spPr>
          <a:xfrm>
            <a:off x="6858000" y="2476500"/>
            <a:ext cx="4762500" cy="2190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0B2233"/>
                </a:solidFill>
              </a:defRPr>
            </a:defPPr>
            <a:lvl1pPr>
              <a:defRPr sz="1875" b="0">
                <a:solidFill>
                  <a:srgbClr val="0B2233"/>
                </a:solidFill>
              </a:defRPr>
            </a:lvl1pPr>
            <a:lvl2pPr>
              <a:defRPr sz="1875" b="0">
                <a:solidFill>
                  <a:srgbClr val="0B2233"/>
                </a:solidFill>
              </a:defRPr>
            </a:lvl2pPr>
            <a:lvl3pPr>
              <a:defRPr sz="1875" b="0">
                <a:solidFill>
                  <a:srgbClr val="0B2233"/>
                </a:solidFill>
              </a:defRPr>
            </a:lvl3pPr>
            <a:lvl4pPr>
              <a:defRPr sz="1875" b="0">
                <a:solidFill>
                  <a:srgbClr val="0B2233"/>
                </a:solidFill>
              </a:defRPr>
            </a:lvl4pPr>
            <a:lvl5pPr>
              <a:defRPr sz="1875" b="0">
                <a:solidFill>
                  <a:srgbClr val="0B2233"/>
                </a:solidFill>
              </a:defRPr>
            </a:lvl5pPr>
            <a:lvl6pPr>
              <a:defRPr sz="1875" b="0">
                <a:solidFill>
                  <a:srgbClr val="0B2233"/>
                </a:solidFill>
              </a:defRPr>
            </a:lvl6pPr>
            <a:lvl7pPr>
              <a:defRPr sz="1875" b="0">
                <a:solidFill>
                  <a:srgbClr val="0B2233"/>
                </a:solidFill>
              </a:defRPr>
            </a:lvl7pPr>
            <a:lvl8pPr>
              <a:defRPr sz="1875" b="0">
                <a:solidFill>
                  <a:srgbClr val="0B2233"/>
                </a:solidFill>
              </a:defRPr>
            </a:lvl8pPr>
            <a:lvl9pPr>
              <a:defRPr sz="1875" b="0">
                <a:solidFill>
                  <a:srgbClr val="0B2233"/>
                </a:solidFill>
              </a:defRPr>
            </a:lvl9pPr>
          </a:lstStyle>
          <a:p>
            <a:pPr>
              <a:defRPr sz="1875" b="0">
                <a:solidFill>
                  <a:srgbClr val="0B2233"/>
                </a:solidFill>
              </a:defRPr>
            </a:pPr>
            <a:r>
              <a:rPr sz="1875" b="0">
                <a:solidFill>
                  <a:srgbClr val="0B2233"/>
                </a:solidFill>
              </a:rPr>
              <a:t>01 读取原始标签文件</a:t>
            </a:r>
          </a:p>
          <a:p>
            <a:pPr>
              <a:defRPr sz="1875" b="0">
                <a:solidFill>
                  <a:srgbClr val="0B2233"/>
                </a:solidFill>
              </a:defRPr>
            </a:pPr>
            <a:r>
              <a:rPr sz="1875" b="0">
                <a:solidFill>
                  <a:srgbClr val="0B2233"/>
                </a:solidFill>
              </a:rPr>
              <a:t>02 按时间排序，每20条组成一组</a:t>
            </a:r>
          </a:p>
          <a:p>
            <a:pPr>
              <a:defRPr sz="1875" b="0">
                <a:solidFill>
                  <a:srgbClr val="0B2233"/>
                </a:solidFill>
              </a:defRPr>
            </a:pPr>
            <a:r>
              <a:rPr sz="1875" b="0">
                <a:solidFill>
                  <a:srgbClr val="0B2233"/>
                </a:solidFill>
              </a:rPr>
              <a:t>03 用前62组确定ARIMA模型</a:t>
            </a:r>
          </a:p>
          <a:p>
            <a:pPr>
              <a:defRPr sz="1875" b="0">
                <a:solidFill>
                  <a:srgbClr val="0B2233"/>
                </a:solidFill>
              </a:defRPr>
            </a:pPr>
            <a:r>
              <a:rPr sz="1875" b="0">
                <a:solidFill>
                  <a:srgbClr val="0B2233"/>
                </a:solidFill>
              </a:rPr>
              <a:t>04 导出后16组预测和误差结果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D99B54-D314-41C6-A5EA-E47F7E2B1E68}"/>
              </a:ext>
            </a:extLst>
          </p:cNvPr>
          <p:cNvSpPr>
            <a:spLocks noGrp="1"/>
          </p:cNvSpPr>
          <p:nvPr/>
        </p:nvSpPr>
        <p:spPr>
          <a:xfrm>
            <a:off x="6858000" y="5000625"/>
            <a:ext cx="476250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5F7380"/>
                </a:solidFill>
              </a:defRPr>
            </a:defPPr>
            <a:lvl1pPr>
              <a:defRPr sz="1575" b="0">
                <a:solidFill>
                  <a:srgbClr val="5F7380"/>
                </a:solidFill>
              </a:defRPr>
            </a:lvl1pPr>
            <a:lvl2pPr>
              <a:defRPr sz="1575" b="0">
                <a:solidFill>
                  <a:srgbClr val="5F7380"/>
                </a:solidFill>
              </a:defRPr>
            </a:lvl2pPr>
            <a:lvl3pPr>
              <a:defRPr sz="1575" b="0">
                <a:solidFill>
                  <a:srgbClr val="5F7380"/>
                </a:solidFill>
              </a:defRPr>
            </a:lvl3pPr>
            <a:lvl4pPr>
              <a:defRPr sz="1575" b="0">
                <a:solidFill>
                  <a:srgbClr val="5F7380"/>
                </a:solidFill>
              </a:defRPr>
            </a:lvl4pPr>
            <a:lvl5pPr>
              <a:defRPr sz="1575" b="0">
                <a:solidFill>
                  <a:srgbClr val="5F7380"/>
                </a:solidFill>
              </a:defRPr>
            </a:lvl5pPr>
            <a:lvl6pPr>
              <a:defRPr sz="1575" b="0">
                <a:solidFill>
                  <a:srgbClr val="5F7380"/>
                </a:solidFill>
              </a:defRPr>
            </a:lvl6pPr>
            <a:lvl7pPr>
              <a:defRPr sz="1575" b="0">
                <a:solidFill>
                  <a:srgbClr val="5F7380"/>
                </a:solidFill>
              </a:defRPr>
            </a:lvl7pPr>
            <a:lvl8pPr>
              <a:defRPr sz="1575" b="0">
                <a:solidFill>
                  <a:srgbClr val="5F7380"/>
                </a:solidFill>
              </a:defRPr>
            </a:lvl8pPr>
            <a:lvl9pPr>
              <a:defRPr sz="1575" b="0">
                <a:solidFill>
                  <a:srgbClr val="5F7380"/>
                </a:solidFill>
              </a:defRPr>
            </a:lvl9pPr>
          </a:lstStyle>
          <a:p>
            <a:pPr>
              <a:defRPr sz="1575" b="0">
                <a:solidFill>
                  <a:srgbClr val="5F7380"/>
                </a:solidFill>
              </a:defRPr>
            </a:pPr>
            <a:r>
              <a:rPr sz="1575" b="0">
                <a:solidFill>
                  <a:srgbClr val="5F7380"/>
                </a:solidFill>
              </a:rPr>
              <a:t>使用软件：Python 与 statsmodels</a:t>
            </a:r>
          </a:p>
          <a:p>
            <a:pPr>
              <a:defRPr sz="1575" b="0">
                <a:solidFill>
                  <a:srgbClr val="5F7380"/>
                </a:solidFill>
              </a:defRPr>
            </a:pPr>
            <a:r>
              <a:rPr sz="1575" b="0">
                <a:solidFill>
                  <a:srgbClr val="5F7380"/>
                </a:solidFill>
              </a:rPr>
              <a:t>实际入口：run_analysis.py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EAEE116-5AC8-432F-9EB6-C4EEE8C092D6}"/>
              </a:ext>
            </a:extLst>
          </p:cNvPr>
          <p:cNvSpPr>
            <a:spLocks noGrp="1"/>
          </p:cNvSpPr>
          <p:nvPr/>
        </p:nvSpPr>
        <p:spPr>
          <a:xfrm>
            <a:off x="571500" y="6000750"/>
            <a:ext cx="11049000" cy="476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F7380"/>
                </a:solidFill>
              </a:defRPr>
            </a:defPPr>
            <a:lvl1pPr>
              <a:defRPr sz="1275" b="0">
                <a:solidFill>
                  <a:srgbClr val="5F7380"/>
                </a:solidFill>
              </a:defRPr>
            </a:lvl1pPr>
            <a:lvl2pPr>
              <a:defRPr sz="1275" b="0">
                <a:solidFill>
                  <a:srgbClr val="5F7380"/>
                </a:solidFill>
              </a:defRPr>
            </a:lvl2pPr>
            <a:lvl3pPr>
              <a:defRPr sz="1275" b="0">
                <a:solidFill>
                  <a:srgbClr val="5F7380"/>
                </a:solidFill>
              </a:defRPr>
            </a:lvl3pPr>
            <a:lvl4pPr>
              <a:defRPr sz="1275" b="0">
                <a:solidFill>
                  <a:srgbClr val="5F7380"/>
                </a:solidFill>
              </a:defRPr>
            </a:lvl4pPr>
            <a:lvl5pPr>
              <a:defRPr sz="1275" b="0">
                <a:solidFill>
                  <a:srgbClr val="5F7380"/>
                </a:solidFill>
              </a:defRPr>
            </a:lvl5pPr>
            <a:lvl6pPr>
              <a:defRPr sz="1275" b="0">
                <a:solidFill>
                  <a:srgbClr val="5F7380"/>
                </a:solidFill>
              </a:defRPr>
            </a:lvl6pPr>
            <a:lvl7pPr>
              <a:defRPr sz="1275" b="0">
                <a:solidFill>
                  <a:srgbClr val="5F7380"/>
                </a:solidFill>
              </a:defRPr>
            </a:lvl7pPr>
            <a:lvl8pPr>
              <a:defRPr sz="1275" b="0">
                <a:solidFill>
                  <a:srgbClr val="5F7380"/>
                </a:solidFill>
              </a:defRPr>
            </a:lvl8pPr>
            <a:lvl9pPr>
              <a:defRPr sz="1275" b="0">
                <a:solidFill>
                  <a:srgbClr val="5F7380"/>
                </a:solidFill>
              </a:defRPr>
            </a:lvl9pPr>
          </a:lstStyle>
          <a:p>
            <a:pPr>
              <a:defRPr sz="1275" b="0">
                <a:solidFill>
                  <a:srgbClr val="5F7380"/>
                </a:solidFill>
              </a:defRPr>
            </a:pPr>
            <a:r>
              <a:rPr sz="1275" b="0">
                <a:solidFill>
                  <a:srgbClr val="5F7380"/>
                </a:solidFill>
              </a:rPr>
              <a:t>来源：UCI SECOM，DOI 10.24432/C54305。原始传感器文件随包提供，本次分析未使用。</a:t>
            </a:r>
          </a:p>
        </p:txBody>
      </p:sp>
    </p:spTree>
    <p:extLst>
      <p:ext uri="{BB962C8B-B14F-4D97-AF65-F5344CB8AC3E}">
        <p14:creationId xmlns:p14="http://schemas.microsoft.com/office/powerpoint/2010/main" val="3669472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6F7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533400" y="501968"/>
            <a:ext cx="5578888" cy="1422082"/>
            <a:chOff x="533400" y="501968"/>
            <a:chExt cx="5578888" cy="1422082"/>
          </a:xfrm>
        </p:grpSpPr>
        <p:sp>
          <p:nvSpPr>
            <p:cNvPr id="3" name="TextBox 3"/>
            <p:cNvSpPr txBox="1"/>
            <p:nvPr/>
          </p:nvSpPr>
          <p:spPr>
            <a:xfrm>
              <a:off x="554355" y="5019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指标构造 · 三维演示对应页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33400" y="952500"/>
              <a:ext cx="5578888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每20条记录，形成一个分析组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67690" y="1558290"/>
              <a:ext cx="491832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按时间排序 → 固定样本量 → 计算每组不合格率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666750" y="2428875"/>
            <a:ext cx="5524500" cy="2857500"/>
            <a:chOff x="666750" y="2428875"/>
            <a:chExt cx="5524500" cy="2857500"/>
          </a:xfrm>
        </p:grpSpPr>
        <p:sp>
          <p:nvSpPr>
            <p:cNvPr id="7" name="Rectangle 7"/>
            <p:cNvSpPr/>
            <p:nvPr/>
          </p:nvSpPr>
          <p:spPr>
            <a:xfrm>
              <a:off x="666750" y="2428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1809750" y="2428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9" name="Rectangle 9"/>
            <p:cNvSpPr/>
            <p:nvPr/>
          </p:nvSpPr>
          <p:spPr>
            <a:xfrm>
              <a:off x="2952750" y="2428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EB7954"/>
            </a:solidFill>
            <a:ln>
              <a:noFill/>
            </a:ln>
          </p:spPr>
        </p:sp>
        <p:sp>
          <p:nvSpPr>
            <p:cNvPr id="10" name="Rectangle 10"/>
            <p:cNvSpPr/>
            <p:nvPr/>
          </p:nvSpPr>
          <p:spPr>
            <a:xfrm>
              <a:off x="4095750" y="2428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11" name="Rectangle 11"/>
            <p:cNvSpPr/>
            <p:nvPr/>
          </p:nvSpPr>
          <p:spPr>
            <a:xfrm>
              <a:off x="5238750" y="2428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12" name="Rectangle 12"/>
            <p:cNvSpPr/>
            <p:nvPr/>
          </p:nvSpPr>
          <p:spPr>
            <a:xfrm>
              <a:off x="666750" y="3190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13" name="Rectangle 13"/>
            <p:cNvSpPr/>
            <p:nvPr/>
          </p:nvSpPr>
          <p:spPr>
            <a:xfrm>
              <a:off x="1809750" y="3190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14" name="Rectangle 14"/>
            <p:cNvSpPr/>
            <p:nvPr/>
          </p:nvSpPr>
          <p:spPr>
            <a:xfrm>
              <a:off x="2952750" y="3190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15" name="Rectangle 15"/>
            <p:cNvSpPr/>
            <p:nvPr/>
          </p:nvSpPr>
          <p:spPr>
            <a:xfrm>
              <a:off x="4095750" y="3190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5238750" y="3190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17" name="Rectangle 17"/>
            <p:cNvSpPr/>
            <p:nvPr/>
          </p:nvSpPr>
          <p:spPr>
            <a:xfrm>
              <a:off x="666750" y="3952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EB7954"/>
            </a:solidFill>
            <a:ln>
              <a:noFill/>
            </a:ln>
          </p:spPr>
        </p:sp>
        <p:sp>
          <p:nvSpPr>
            <p:cNvPr id="18" name="Rectangle 18"/>
            <p:cNvSpPr/>
            <p:nvPr/>
          </p:nvSpPr>
          <p:spPr>
            <a:xfrm>
              <a:off x="1809750" y="3952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EB7954"/>
            </a:solidFill>
            <a:ln>
              <a:noFill/>
            </a:ln>
          </p:spPr>
        </p:sp>
        <p:sp>
          <p:nvSpPr>
            <p:cNvPr id="19" name="Rectangle 19"/>
            <p:cNvSpPr/>
            <p:nvPr/>
          </p:nvSpPr>
          <p:spPr>
            <a:xfrm>
              <a:off x="2952750" y="3952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20" name="Rectangle 20"/>
            <p:cNvSpPr/>
            <p:nvPr/>
          </p:nvSpPr>
          <p:spPr>
            <a:xfrm>
              <a:off x="4095750" y="3952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5238750" y="3952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EB7954"/>
            </a:solidFill>
            <a:ln>
              <a:noFill/>
            </a:ln>
          </p:spPr>
        </p:sp>
        <p:sp>
          <p:nvSpPr>
            <p:cNvPr id="22" name="Rectangle 22"/>
            <p:cNvSpPr/>
            <p:nvPr/>
          </p:nvSpPr>
          <p:spPr>
            <a:xfrm>
              <a:off x="666750" y="4714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23" name="Rectangle 23"/>
            <p:cNvSpPr/>
            <p:nvPr/>
          </p:nvSpPr>
          <p:spPr>
            <a:xfrm>
              <a:off x="1809750" y="4714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24" name="Rectangle 24"/>
            <p:cNvSpPr/>
            <p:nvPr/>
          </p:nvSpPr>
          <p:spPr>
            <a:xfrm>
              <a:off x="2952750" y="4714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25" name="Rectangle 25"/>
            <p:cNvSpPr/>
            <p:nvPr/>
          </p:nvSpPr>
          <p:spPr>
            <a:xfrm>
              <a:off x="4095750" y="4714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26" name="Rectangle 26"/>
            <p:cNvSpPr/>
            <p:nvPr/>
          </p:nvSpPr>
          <p:spPr>
            <a:xfrm>
              <a:off x="5238750" y="4714875"/>
              <a:ext cx="952500" cy="571500"/>
            </a:xfrm>
            <a:prstGeom prst="roundRect">
              <a:avLst>
                <a:gd name="adj" fmla="val 13333"/>
              </a:avLst>
            </a:prstGeom>
            <a:solidFill>
              <a:srgbClr val="1B9E9A"/>
            </a:solidFill>
            <a:ln>
              <a:noFill/>
            </a:ln>
          </p:spPr>
        </p:sp>
        <p:grpSp>
          <p:nvGrpSpPr>
            <p:cNvPr id="47" name="Group 47"/>
            <p:cNvGrpSpPr/>
            <p:nvPr/>
          </p:nvGrpSpPr>
          <p:grpSpPr>
            <a:xfrm>
              <a:off x="886111" y="2606040"/>
              <a:ext cx="5085779" cy="2651760"/>
              <a:chOff x="886111" y="2606040"/>
              <a:chExt cx="5085779" cy="2651760"/>
            </a:xfrm>
          </p:grpSpPr>
          <p:sp>
            <p:nvSpPr>
              <p:cNvPr id="27" name="TextBox 27"/>
              <p:cNvSpPr txBox="1"/>
              <p:nvPr/>
            </p:nvSpPr>
            <p:spPr>
              <a:xfrm>
                <a:off x="988124" y="2606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01</a:t>
                </a:r>
              </a:p>
            </p:txBody>
          </p:sp>
          <p:sp>
            <p:nvSpPr>
              <p:cNvPr id="28" name="TextBox 28"/>
              <p:cNvSpPr txBox="1"/>
              <p:nvPr/>
            </p:nvSpPr>
            <p:spPr>
              <a:xfrm>
                <a:off x="2131124" y="2606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02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3172111" y="2606040"/>
                <a:ext cx="513779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03 ×</a:t>
                </a:r>
              </a:p>
            </p:txBody>
          </p:sp>
          <p:sp>
            <p:nvSpPr>
              <p:cNvPr id="30" name="TextBox 30"/>
              <p:cNvSpPr txBox="1"/>
              <p:nvPr/>
            </p:nvSpPr>
            <p:spPr>
              <a:xfrm>
                <a:off x="4417124" y="2606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04</a:t>
                </a:r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5560124" y="2606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05</a:t>
                </a: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988124" y="3368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06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2131124" y="3368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07</a:t>
                </a:r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3274124" y="3368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08</a:t>
                </a:r>
              </a:p>
            </p:txBody>
          </p:sp>
          <p:sp>
            <p:nvSpPr>
              <p:cNvPr id="35" name="TextBox 35"/>
              <p:cNvSpPr txBox="1"/>
              <p:nvPr/>
            </p:nvSpPr>
            <p:spPr>
              <a:xfrm>
                <a:off x="4417124" y="3368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09</a:t>
                </a:r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5560124" y="3368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10</a:t>
                </a:r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886111" y="4130040"/>
                <a:ext cx="513779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11 ×</a:t>
                </a:r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2029111" y="4130040"/>
                <a:ext cx="513779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12 ×</a:t>
                </a:r>
              </a:p>
            </p:txBody>
          </p:sp>
          <p:sp>
            <p:nvSpPr>
              <p:cNvPr id="39" name="TextBox 39"/>
              <p:cNvSpPr txBox="1"/>
              <p:nvPr/>
            </p:nvSpPr>
            <p:spPr>
              <a:xfrm>
                <a:off x="3274124" y="4130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13</a:t>
                </a:r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4417124" y="4130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14</a:t>
                </a:r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5458111" y="4130040"/>
                <a:ext cx="513779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15 ×</a:t>
                </a:r>
              </a:p>
            </p:txBody>
          </p:sp>
          <p:sp>
            <p:nvSpPr>
              <p:cNvPr id="42" name="TextBox 42"/>
              <p:cNvSpPr txBox="1"/>
              <p:nvPr/>
            </p:nvSpPr>
            <p:spPr>
              <a:xfrm>
                <a:off x="988124" y="4892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16</a:t>
                </a:r>
              </a:p>
            </p:txBody>
          </p:sp>
          <p:sp>
            <p:nvSpPr>
              <p:cNvPr id="43" name="TextBox 43"/>
              <p:cNvSpPr txBox="1"/>
              <p:nvPr/>
            </p:nvSpPr>
            <p:spPr>
              <a:xfrm>
                <a:off x="2131124" y="4892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17</a:t>
                </a:r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3274124" y="4892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18</a:t>
                </a:r>
              </a:p>
            </p:txBody>
          </p:sp>
          <p:sp>
            <p:nvSpPr>
              <p:cNvPr id="45" name="TextBox 45"/>
              <p:cNvSpPr txBox="1"/>
              <p:nvPr/>
            </p:nvSpPr>
            <p:spPr>
              <a:xfrm>
                <a:off x="4417124" y="4892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19</a:t>
                </a:r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5560124" y="4892040"/>
                <a:ext cx="309753" cy="3657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800" dirty="0">
                    <a:solidFill>
                      <a:srgbClr val="FFFFFF"/>
                    </a:solidFill>
                    <a:latin typeface="Arial"/>
                    <a:ea typeface="Microsoft YaHei"/>
                    <a:cs typeface="Arial"/>
                  </a:rPr>
                  <a:t>20</a:t>
                </a:r>
              </a:p>
            </p:txBody>
          </p:sp>
        </p:grpSp>
      </p:grpSp>
      <p:grpSp>
        <p:nvGrpSpPr>
          <p:cNvPr id="54" name="Group 54"/>
          <p:cNvGrpSpPr/>
          <p:nvPr/>
        </p:nvGrpSpPr>
        <p:grpSpPr>
          <a:xfrm>
            <a:off x="6972300" y="2567940"/>
            <a:ext cx="2570988" cy="2894648"/>
            <a:chOff x="6972300" y="2567940"/>
            <a:chExt cx="2570988" cy="2894648"/>
          </a:xfrm>
        </p:grpSpPr>
        <p:sp>
          <p:nvSpPr>
            <p:cNvPr id="49" name="TextBox 49"/>
            <p:cNvSpPr txBox="1"/>
            <p:nvPr/>
          </p:nvSpPr>
          <p:spPr>
            <a:xfrm>
              <a:off x="7073265" y="2567940"/>
              <a:ext cx="226599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第1组 · 4条检测失败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972300" y="3076575"/>
              <a:ext cx="1632585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00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20%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67550" y="4014788"/>
              <a:ext cx="1797368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4 ÷ 20 = 20%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073265" y="4739640"/>
              <a:ext cx="247002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78组进入时间序列分析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078980" y="5188268"/>
              <a:ext cx="229357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尾部7条保留在总体描述中。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558165" y="5702618"/>
            <a:ext cx="11163729" cy="874394"/>
            <a:chOff x="558165" y="5702618"/>
            <a:chExt cx="11163729" cy="874394"/>
          </a:xfrm>
        </p:grpSpPr>
        <p:sp>
          <p:nvSpPr>
            <p:cNvPr id="55" name="TextBox 55"/>
            <p:cNvSpPr txBox="1"/>
            <p:nvPr/>
          </p:nvSpPr>
          <p:spPr>
            <a:xfrm>
              <a:off x="649605" y="5702618"/>
              <a:ext cx="2041541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青色：通过 橙色 ×：失败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558165" y="6363652"/>
              <a:ext cx="4346210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来源：UCI SECOM。每组为人为构造的分析组；模型形状为教学示意。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226165" y="6363652"/>
              <a:ext cx="495729" cy="2133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04 / 09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48" grpId="0"/>
      <p:bldP spid="54" grpId="0"/>
      <p:bldP spid="5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533400" y="501968"/>
            <a:ext cx="6040946" cy="1422082"/>
            <a:chOff x="533400" y="501968"/>
            <a:chExt cx="6040946" cy="1422082"/>
          </a:xfrm>
        </p:grpSpPr>
        <p:sp>
          <p:nvSpPr>
            <p:cNvPr id="3" name="TextBox 3"/>
            <p:cNvSpPr txBox="1"/>
            <p:nvPr/>
          </p:nvSpPr>
          <p:spPr>
            <a:xfrm>
              <a:off x="554355" y="501968"/>
              <a:ext cx="1114425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观察质量波动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33400" y="952500"/>
              <a:ext cx="6040946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78组记录中，29组没有检测失败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67690" y="1558290"/>
              <a:ext cx="457028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波动并不平滑。最高组不合格率达到35%。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21005" y="2159318"/>
            <a:ext cx="10811732" cy="3569970"/>
            <a:chOff x="421005" y="2159318"/>
            <a:chExt cx="10811732" cy="3569970"/>
          </a:xfrm>
        </p:grpSpPr>
        <p:sp>
          <p:nvSpPr>
            <p:cNvPr id="7" name="Line 7"/>
            <p:cNvSpPr/>
            <p:nvPr/>
          </p:nvSpPr>
          <p:spPr>
            <a:xfrm>
              <a:off x="952500" y="5286375"/>
              <a:ext cx="10001250" cy="9525"/>
            </a:xfrm>
            <a:custGeom>
              <a:avLst/>
              <a:gdLst/>
              <a:ahLst/>
              <a:cxnLst/>
              <a:rect l="l" t="t" r="r" b="b"/>
              <a:pathLst>
                <a:path w="10001250" h="9525">
                  <a:moveTo>
                    <a:pt x="0" y="0"/>
                  </a:moveTo>
                  <a:lnTo>
                    <a:pt x="10001250" y="0"/>
                  </a:lnTo>
                </a:path>
              </a:pathLst>
            </a:custGeom>
            <a:noFill/>
            <a:ln w="9525">
              <a:solidFill>
                <a:srgbClr val="D7E2E7"/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952500" y="4524375"/>
              <a:ext cx="10001250" cy="9525"/>
            </a:xfrm>
            <a:custGeom>
              <a:avLst/>
              <a:gdLst/>
              <a:ahLst/>
              <a:cxnLst/>
              <a:rect l="l" t="t" r="r" b="b"/>
              <a:pathLst>
                <a:path w="10001250" h="9525">
                  <a:moveTo>
                    <a:pt x="0" y="0"/>
                  </a:moveTo>
                  <a:lnTo>
                    <a:pt x="10001250" y="0"/>
                  </a:lnTo>
                </a:path>
              </a:pathLst>
            </a:custGeom>
            <a:noFill/>
            <a:ln w="9525">
              <a:solidFill>
                <a:srgbClr val="D7E2E7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952500" y="3762375"/>
              <a:ext cx="10001250" cy="9525"/>
            </a:xfrm>
            <a:custGeom>
              <a:avLst/>
              <a:gdLst/>
              <a:ahLst/>
              <a:cxnLst/>
              <a:rect l="l" t="t" r="r" b="b"/>
              <a:pathLst>
                <a:path w="10001250" h="9525">
                  <a:moveTo>
                    <a:pt x="0" y="0"/>
                  </a:moveTo>
                  <a:lnTo>
                    <a:pt x="10001250" y="0"/>
                  </a:lnTo>
                </a:path>
              </a:pathLst>
            </a:custGeom>
            <a:noFill/>
            <a:ln w="9525">
              <a:solidFill>
                <a:srgbClr val="D7E2E7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952500" y="3000375"/>
              <a:ext cx="10001250" cy="9525"/>
            </a:xfrm>
            <a:custGeom>
              <a:avLst/>
              <a:gdLst/>
              <a:ahLst/>
              <a:cxnLst/>
              <a:rect l="l" t="t" r="r" b="b"/>
              <a:pathLst>
                <a:path w="10001250" h="9525">
                  <a:moveTo>
                    <a:pt x="0" y="0"/>
                  </a:moveTo>
                  <a:lnTo>
                    <a:pt x="10001250" y="0"/>
                  </a:lnTo>
                </a:path>
              </a:pathLst>
            </a:custGeom>
            <a:noFill/>
            <a:ln w="9525">
              <a:solidFill>
                <a:srgbClr val="D7E2E7"/>
              </a:solidFill>
            </a:ln>
          </p:spPr>
        </p:sp>
        <p:sp>
          <p:nvSpPr>
            <p:cNvPr id="11" name="Line 11"/>
            <p:cNvSpPr/>
            <p:nvPr/>
          </p:nvSpPr>
          <p:spPr>
            <a:xfrm>
              <a:off x="952500" y="2238375"/>
              <a:ext cx="10001250" cy="9525"/>
            </a:xfrm>
            <a:custGeom>
              <a:avLst/>
              <a:gdLst/>
              <a:ahLst/>
              <a:cxnLst/>
              <a:rect l="l" t="t" r="r" b="b"/>
              <a:pathLst>
                <a:path w="10001250" h="9525">
                  <a:moveTo>
                    <a:pt x="0" y="0"/>
                  </a:moveTo>
                  <a:lnTo>
                    <a:pt x="10001250" y="0"/>
                  </a:lnTo>
                </a:path>
              </a:pathLst>
            </a:custGeom>
            <a:noFill/>
            <a:ln w="9525">
              <a:solidFill>
                <a:srgbClr val="D7E2E7"/>
              </a:solidFill>
            </a:ln>
          </p:spPr>
        </p:sp>
        <p:grpSp>
          <p:nvGrpSpPr>
            <p:cNvPr id="22" name="Group 22"/>
            <p:cNvGrpSpPr/>
            <p:nvPr/>
          </p:nvGrpSpPr>
          <p:grpSpPr>
            <a:xfrm>
              <a:off x="421005" y="2159318"/>
              <a:ext cx="10811732" cy="3569970"/>
              <a:chOff x="421005" y="2159318"/>
              <a:chExt cx="10811732" cy="3569970"/>
            </a:xfrm>
          </p:grpSpPr>
          <p:sp>
            <p:nvSpPr>
              <p:cNvPr id="12" name="TextBox 12"/>
              <p:cNvSpPr txBox="1"/>
              <p:nvPr/>
            </p:nvSpPr>
            <p:spPr>
              <a:xfrm>
                <a:off x="525780" y="5207318"/>
                <a:ext cx="268319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0%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421005" y="4445318"/>
                <a:ext cx="3673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10%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421005" y="3683318"/>
                <a:ext cx="3673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20%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421005" y="2921318"/>
                <a:ext cx="3673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30%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421005" y="2159318"/>
                <a:ext cx="3673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40%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887730" y="5454968"/>
                <a:ext cx="13330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1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3316605" y="5454968"/>
                <a:ext cx="232315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20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5916930" y="5454968"/>
                <a:ext cx="232315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40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8745855" y="5454968"/>
                <a:ext cx="232315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62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10460355" y="5454968"/>
                <a:ext cx="77238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78（组）</a:t>
                </a:r>
              </a:p>
            </p:txBody>
          </p:sp>
        </p:grpSp>
      </p:grpSp>
      <p:grpSp>
        <p:nvGrpSpPr>
          <p:cNvPr id="29" name="Group 29"/>
          <p:cNvGrpSpPr/>
          <p:nvPr/>
        </p:nvGrpSpPr>
        <p:grpSpPr>
          <a:xfrm>
            <a:off x="952500" y="2238375"/>
            <a:ext cx="10001250" cy="3048000"/>
            <a:chOff x="952500" y="2238375"/>
            <a:chExt cx="10001250" cy="3048000"/>
          </a:xfrm>
        </p:grpSpPr>
        <p:sp>
          <p:nvSpPr>
            <p:cNvPr id="24" name="Rectangle 24"/>
            <p:cNvSpPr/>
            <p:nvPr/>
          </p:nvSpPr>
          <p:spPr>
            <a:xfrm>
              <a:off x="8940546" y="2238375"/>
              <a:ext cx="2013204" cy="3048000"/>
            </a:xfrm>
            <a:prstGeom prst="rect">
              <a:avLst/>
            </a:prstGeom>
            <a:solidFill>
              <a:srgbClr val="1B9E9A">
                <a:alpha val="9000"/>
              </a:srgbClr>
            </a:solidFill>
            <a:ln>
              <a:noFill/>
            </a:ln>
          </p:spPr>
        </p:sp>
        <p:sp>
          <p:nvSpPr>
            <p:cNvPr id="25" name="Line 25"/>
            <p:cNvSpPr/>
            <p:nvPr/>
          </p:nvSpPr>
          <p:spPr>
            <a:xfrm>
              <a:off x="8940546" y="2238375"/>
              <a:ext cx="9525" cy="3048000"/>
            </a:xfrm>
            <a:custGeom>
              <a:avLst/>
              <a:gdLst/>
              <a:ahLst/>
              <a:cxnLst/>
              <a:rect l="l" t="t" r="r" b="b"/>
              <a:pathLst>
                <a:path w="9525" h="3048000">
                  <a:moveTo>
                    <a:pt x="0" y="0"/>
                  </a:moveTo>
                  <a:lnTo>
                    <a:pt x="0" y="3048000"/>
                  </a:lnTo>
                </a:path>
              </a:pathLst>
            </a:custGeom>
            <a:noFill/>
            <a:ln w="9525">
              <a:solidFill>
                <a:srgbClr val="607484"/>
              </a:solidFill>
              <a:custDash>
                <a:ds d="600000" sp="600000"/>
              </a:custDash>
            </a:ln>
          </p:spPr>
        </p:sp>
        <p:sp>
          <p:nvSpPr>
            <p:cNvPr id="26" name="Polyline 26"/>
            <p:cNvSpPr/>
            <p:nvPr/>
          </p:nvSpPr>
          <p:spPr>
            <a:xfrm>
              <a:off x="952500" y="2619375"/>
              <a:ext cx="10001250" cy="2667000"/>
            </a:xfrm>
            <a:custGeom>
              <a:avLst/>
              <a:gdLst/>
              <a:ahLst/>
              <a:cxnLst/>
              <a:rect l="l" t="t" r="r" b="b"/>
              <a:pathLst>
                <a:path w="10001250" h="2667000">
                  <a:moveTo>
                    <a:pt x="0" y="1143000"/>
                  </a:moveTo>
                  <a:lnTo>
                    <a:pt x="129921" y="1905000"/>
                  </a:lnTo>
                  <a:lnTo>
                    <a:pt x="259747" y="0"/>
                  </a:lnTo>
                  <a:lnTo>
                    <a:pt x="389668" y="1905000"/>
                  </a:lnTo>
                  <a:lnTo>
                    <a:pt x="519589" y="1905000"/>
                  </a:lnTo>
                  <a:lnTo>
                    <a:pt x="649415" y="2286000"/>
                  </a:lnTo>
                  <a:lnTo>
                    <a:pt x="779335" y="2286000"/>
                  </a:lnTo>
                  <a:lnTo>
                    <a:pt x="909161" y="1524000"/>
                  </a:lnTo>
                  <a:lnTo>
                    <a:pt x="1039082" y="1905000"/>
                  </a:lnTo>
                  <a:lnTo>
                    <a:pt x="1169003" y="762000"/>
                  </a:lnTo>
                  <a:lnTo>
                    <a:pt x="1298829" y="2286000"/>
                  </a:lnTo>
                  <a:lnTo>
                    <a:pt x="1428750" y="762000"/>
                  </a:lnTo>
                  <a:lnTo>
                    <a:pt x="1558671" y="1143000"/>
                  </a:lnTo>
                  <a:lnTo>
                    <a:pt x="1688497" y="1905000"/>
                  </a:lnTo>
                  <a:lnTo>
                    <a:pt x="1818418" y="1524000"/>
                  </a:lnTo>
                  <a:lnTo>
                    <a:pt x="1948339" y="2667000"/>
                  </a:lnTo>
                  <a:lnTo>
                    <a:pt x="2078164" y="762000"/>
                  </a:lnTo>
                  <a:lnTo>
                    <a:pt x="2208086" y="1905000"/>
                  </a:lnTo>
                  <a:lnTo>
                    <a:pt x="2337911" y="1905000"/>
                  </a:lnTo>
                  <a:lnTo>
                    <a:pt x="2467832" y="2286000"/>
                  </a:lnTo>
                  <a:lnTo>
                    <a:pt x="2597753" y="2286000"/>
                  </a:lnTo>
                  <a:lnTo>
                    <a:pt x="2727579" y="2286000"/>
                  </a:lnTo>
                  <a:lnTo>
                    <a:pt x="2857500" y="1905000"/>
                  </a:lnTo>
                  <a:lnTo>
                    <a:pt x="2987421" y="2667000"/>
                  </a:lnTo>
                  <a:lnTo>
                    <a:pt x="3117247" y="2286000"/>
                  </a:lnTo>
                  <a:lnTo>
                    <a:pt x="3247168" y="1905000"/>
                  </a:lnTo>
                  <a:lnTo>
                    <a:pt x="3377089" y="2667000"/>
                  </a:lnTo>
                  <a:lnTo>
                    <a:pt x="3506914" y="2667000"/>
                  </a:lnTo>
                  <a:lnTo>
                    <a:pt x="3636836" y="2286000"/>
                  </a:lnTo>
                  <a:lnTo>
                    <a:pt x="3766661" y="2286000"/>
                  </a:lnTo>
                  <a:lnTo>
                    <a:pt x="3896582" y="1905000"/>
                  </a:lnTo>
                  <a:lnTo>
                    <a:pt x="4026503" y="2286000"/>
                  </a:lnTo>
                  <a:lnTo>
                    <a:pt x="4156329" y="2667000"/>
                  </a:lnTo>
                  <a:lnTo>
                    <a:pt x="4286250" y="2667000"/>
                  </a:lnTo>
                  <a:lnTo>
                    <a:pt x="4416171" y="2667000"/>
                  </a:lnTo>
                  <a:lnTo>
                    <a:pt x="4545997" y="2286000"/>
                  </a:lnTo>
                  <a:lnTo>
                    <a:pt x="4675918" y="2667000"/>
                  </a:lnTo>
                  <a:lnTo>
                    <a:pt x="4805839" y="2667000"/>
                  </a:lnTo>
                  <a:lnTo>
                    <a:pt x="4935664" y="2667000"/>
                  </a:lnTo>
                  <a:lnTo>
                    <a:pt x="5065586" y="1905000"/>
                  </a:lnTo>
                  <a:lnTo>
                    <a:pt x="5195411" y="2667000"/>
                  </a:lnTo>
                  <a:lnTo>
                    <a:pt x="5325332" y="1905000"/>
                  </a:lnTo>
                  <a:lnTo>
                    <a:pt x="5455253" y="2667000"/>
                  </a:lnTo>
                  <a:lnTo>
                    <a:pt x="5585079" y="2286000"/>
                  </a:lnTo>
                  <a:lnTo>
                    <a:pt x="5715000" y="2667000"/>
                  </a:lnTo>
                  <a:lnTo>
                    <a:pt x="5844921" y="2286000"/>
                  </a:lnTo>
                  <a:lnTo>
                    <a:pt x="5974747" y="1524000"/>
                  </a:lnTo>
                  <a:lnTo>
                    <a:pt x="6104668" y="2667000"/>
                  </a:lnTo>
                  <a:lnTo>
                    <a:pt x="6234589" y="2667000"/>
                  </a:lnTo>
                  <a:lnTo>
                    <a:pt x="6364414" y="2667000"/>
                  </a:lnTo>
                  <a:lnTo>
                    <a:pt x="6494336" y="2667000"/>
                  </a:lnTo>
                  <a:lnTo>
                    <a:pt x="6624161" y="2286000"/>
                  </a:lnTo>
                  <a:lnTo>
                    <a:pt x="6754082" y="2667000"/>
                  </a:lnTo>
                  <a:lnTo>
                    <a:pt x="6884003" y="2286000"/>
                  </a:lnTo>
                  <a:lnTo>
                    <a:pt x="7013829" y="2667000"/>
                  </a:lnTo>
                  <a:lnTo>
                    <a:pt x="7143750" y="2667000"/>
                  </a:lnTo>
                  <a:lnTo>
                    <a:pt x="7273671" y="2667000"/>
                  </a:lnTo>
                  <a:lnTo>
                    <a:pt x="7403497" y="1905000"/>
                  </a:lnTo>
                  <a:lnTo>
                    <a:pt x="7533418" y="2667000"/>
                  </a:lnTo>
                  <a:lnTo>
                    <a:pt x="7663339" y="1905000"/>
                  </a:lnTo>
                  <a:lnTo>
                    <a:pt x="7793164" y="2286000"/>
                  </a:lnTo>
                  <a:lnTo>
                    <a:pt x="7923086" y="1905000"/>
                  </a:lnTo>
                  <a:lnTo>
                    <a:pt x="8052911" y="1524000"/>
                  </a:lnTo>
                  <a:lnTo>
                    <a:pt x="8182832" y="2667000"/>
                  </a:lnTo>
                  <a:lnTo>
                    <a:pt x="8312753" y="2667000"/>
                  </a:lnTo>
                  <a:lnTo>
                    <a:pt x="8442579" y="1905000"/>
                  </a:lnTo>
                  <a:lnTo>
                    <a:pt x="8572500" y="762000"/>
                  </a:lnTo>
                  <a:lnTo>
                    <a:pt x="8702421" y="1905000"/>
                  </a:lnTo>
                  <a:lnTo>
                    <a:pt x="8832247" y="1524000"/>
                  </a:lnTo>
                  <a:lnTo>
                    <a:pt x="8962168" y="2667000"/>
                  </a:lnTo>
                  <a:lnTo>
                    <a:pt x="9092089" y="2286000"/>
                  </a:lnTo>
                  <a:lnTo>
                    <a:pt x="9221914" y="2286000"/>
                  </a:lnTo>
                  <a:lnTo>
                    <a:pt x="9351836" y="2286000"/>
                  </a:lnTo>
                  <a:lnTo>
                    <a:pt x="9481661" y="2667000"/>
                  </a:lnTo>
                  <a:lnTo>
                    <a:pt x="9611582" y="2667000"/>
                  </a:lnTo>
                  <a:lnTo>
                    <a:pt x="9741503" y="2286000"/>
                  </a:lnTo>
                  <a:lnTo>
                    <a:pt x="9871329" y="2667000"/>
                  </a:lnTo>
                  <a:lnTo>
                    <a:pt x="10001250" y="2667000"/>
                  </a:lnTo>
                </a:path>
              </a:pathLst>
            </a:custGeom>
            <a:noFill/>
            <a:ln w="28575">
              <a:solidFill>
                <a:srgbClr val="1B9E9A"/>
              </a:solidFill>
            </a:ln>
          </p:spPr>
        </p:sp>
        <p:sp>
          <p:nvSpPr>
            <p:cNvPr id="27" name="Ellipse 27"/>
            <p:cNvSpPr/>
            <p:nvPr/>
          </p:nvSpPr>
          <p:spPr>
            <a:xfrm>
              <a:off x="1155097" y="2562225"/>
              <a:ext cx="114300" cy="114300"/>
            </a:xfrm>
            <a:prstGeom prst="ellipse">
              <a:avLst/>
            </a:prstGeom>
            <a:solidFill>
              <a:srgbClr val="EB7954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1415415" y="2386965"/>
              <a:ext cx="48977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EB7954"/>
                  </a:solidFill>
                  <a:latin typeface="Arial"/>
                  <a:ea typeface="Microsoft YaHei"/>
                  <a:cs typeface="Arial"/>
                </a:rPr>
                <a:t>35%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4173855" y="5874068"/>
            <a:ext cx="6085427" cy="274320"/>
            <a:chOff x="4173855" y="5874068"/>
            <a:chExt cx="6085427" cy="274320"/>
          </a:xfrm>
        </p:grpSpPr>
        <p:sp>
          <p:nvSpPr>
            <p:cNvPr id="30" name="TextBox 30"/>
            <p:cNvSpPr txBox="1"/>
            <p:nvPr/>
          </p:nvSpPr>
          <p:spPr>
            <a:xfrm>
              <a:off x="4173855" y="5874068"/>
              <a:ext cx="113242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前62组：训练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9126855" y="5874068"/>
              <a:ext cx="1132427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后16组：检验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558165" y="6363652"/>
            <a:ext cx="5046297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07484"/>
                </a:solidFill>
                <a:latin typeface="Arial"/>
                <a:ea typeface="Microsoft YaHei"/>
                <a:cs typeface="Arial"/>
              </a:rPr>
              <a:t>来源：UCI SECOM，本次分组计算。横轴为检测顺序分析组，不是等距日历时间。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26165" y="6363652"/>
            <a:ext cx="411972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1050">
                <a:solidFill>
                  <a:srgbClr val="607484"/>
                </a:solidFill>
                <a:latin typeface="Arial"/>
                <a:ea typeface="Microsoft YaHei"/>
                <a:cs typeface="Arial"/>
              </a:rPr>
              <a:t>06 / 11</a:t>
            </a:r>
            <a:endParaRPr lang="zh-CN" sz="1050" dirty="0">
              <a:solidFill>
                <a:srgbClr val="607484"/>
              </a:solidFill>
              <a:latin typeface="Arial"/>
              <a:ea typeface="Microsoft YaHei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3" grpId="0"/>
      <p:bldP spid="29" grpId="0"/>
      <p:bldP spid="3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6F7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533400" y="501968"/>
            <a:ext cx="6376988" cy="1422082"/>
            <a:chOff x="533400" y="501968"/>
            <a:chExt cx="6376988" cy="1422082"/>
          </a:xfrm>
        </p:grpSpPr>
        <p:sp>
          <p:nvSpPr>
            <p:cNvPr id="3" name="TextBox 3"/>
            <p:cNvSpPr txBox="1"/>
            <p:nvPr/>
          </p:nvSpPr>
          <p:spPr>
            <a:xfrm>
              <a:off x="554355" y="501968"/>
              <a:ext cx="7543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分析方法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33400" y="952500"/>
              <a:ext cx="6376988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让模型只看到过去，再预测下一组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67690" y="1558290"/>
              <a:ext cx="436626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用真实的后续记录，检验预测是否有用。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19125" y="2343150"/>
            <a:ext cx="10906125" cy="1104900"/>
            <a:chOff x="619125" y="2343150"/>
            <a:chExt cx="10906125" cy="1104900"/>
          </a:xfrm>
        </p:grpSpPr>
        <p:sp>
          <p:nvSpPr>
            <p:cNvPr id="7" name="Rectangle 7"/>
            <p:cNvSpPr/>
            <p:nvPr/>
          </p:nvSpPr>
          <p:spPr>
            <a:xfrm>
              <a:off x="619125" y="2343150"/>
              <a:ext cx="8620125" cy="1104900"/>
            </a:xfrm>
            <a:prstGeom prst="rect">
              <a:avLst/>
            </a:prstGeom>
            <a:solidFill>
              <a:srgbClr val="0B2233"/>
            </a:solidFill>
            <a:ln>
              <a:noFill/>
            </a:ln>
          </p:spPr>
        </p:sp>
        <p:sp>
          <p:nvSpPr>
            <p:cNvPr id="8" name="Rectangle 8"/>
            <p:cNvSpPr/>
            <p:nvPr/>
          </p:nvSpPr>
          <p:spPr>
            <a:xfrm>
              <a:off x="9305925" y="2343150"/>
              <a:ext cx="2219325" cy="1104900"/>
            </a:xfrm>
            <a:prstGeom prst="rect">
              <a:avLst/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914400" y="2686050"/>
              <a:ext cx="91630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62组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2406015" y="2796540"/>
              <a:ext cx="172593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训练与选择模型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544050" y="2557462"/>
              <a:ext cx="687229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16组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549765" y="2996565"/>
              <a:ext cx="10058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滚动检验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90550" y="3910012"/>
            <a:ext cx="2271713" cy="1690688"/>
            <a:chOff x="590550" y="3910012"/>
            <a:chExt cx="2271713" cy="1690688"/>
          </a:xfrm>
        </p:grpSpPr>
        <p:sp>
          <p:nvSpPr>
            <p:cNvPr id="14" name="TextBox 14"/>
            <p:cNvSpPr txBox="1"/>
            <p:nvPr/>
          </p:nvSpPr>
          <p:spPr>
            <a:xfrm>
              <a:off x="590550" y="3910012"/>
              <a:ext cx="3871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90550" y="4348162"/>
              <a:ext cx="185737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处理比例数据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96265" y="4853940"/>
              <a:ext cx="226599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平滑后进行logit变换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96265" y="5234940"/>
              <a:ext cx="220599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再建立时间序列模型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400550" y="3910012"/>
            <a:ext cx="2622471" cy="1690688"/>
            <a:chOff x="4400550" y="3910012"/>
            <a:chExt cx="2622471" cy="1690688"/>
          </a:xfrm>
        </p:grpSpPr>
        <p:sp>
          <p:nvSpPr>
            <p:cNvPr id="19" name="TextBox 19"/>
            <p:cNvSpPr txBox="1"/>
            <p:nvPr/>
          </p:nvSpPr>
          <p:spPr>
            <a:xfrm>
              <a:off x="4400550" y="3910012"/>
              <a:ext cx="3871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400550" y="4348162"/>
              <a:ext cx="262247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选择ARIMA(0,1,1)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06265" y="4853940"/>
              <a:ext cx="24460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在训练组比较低阶模型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406265" y="5234940"/>
              <a:ext cx="2434018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按AICc与收敛情况选择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210550" y="3910012"/>
            <a:ext cx="2211705" cy="1690688"/>
            <a:chOff x="8210550" y="3910012"/>
            <a:chExt cx="2211705" cy="1690688"/>
          </a:xfrm>
        </p:grpSpPr>
        <p:sp>
          <p:nvSpPr>
            <p:cNvPr id="24" name="TextBox 24"/>
            <p:cNvSpPr txBox="1"/>
            <p:nvPr/>
          </p:nvSpPr>
          <p:spPr>
            <a:xfrm>
              <a:off x="8210550" y="3910012"/>
              <a:ext cx="387191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210550" y="4348162"/>
              <a:ext cx="185737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逐组预测一步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16265" y="4853940"/>
              <a:ext cx="220599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固定阶数，更新历史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16265" y="5234940"/>
              <a:ext cx="196596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与两种平均法比较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558165" y="6363652"/>
            <a:ext cx="4584240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07484"/>
                </a:solidFill>
                <a:latin typeface="Arial"/>
                <a:ea typeface="Microsoft YaHei"/>
                <a:cs typeface="Arial"/>
              </a:rPr>
              <a:t>对照：历史累计平均、前5组平均。三种方法均使用预测时已获得的记录。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1226165" y="6363652"/>
            <a:ext cx="411972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1050">
                <a:solidFill>
                  <a:srgbClr val="607484"/>
                </a:solidFill>
                <a:latin typeface="Arial"/>
                <a:ea typeface="Microsoft YaHei"/>
                <a:cs typeface="Arial"/>
              </a:rPr>
              <a:t>07 / 11</a:t>
            </a:r>
            <a:endParaRPr lang="zh-CN" sz="1050" dirty="0">
              <a:solidFill>
                <a:srgbClr val="607484"/>
              </a:solidFill>
              <a:latin typeface="Arial"/>
              <a:ea typeface="Microsoft YaHei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1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3" grpId="0"/>
      <p:bldP spid="18" grpId="0"/>
      <p:bldP spid="23" grpId="0"/>
      <p:bldP spid="2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533400" y="501968"/>
            <a:ext cx="6839045" cy="1422082"/>
            <a:chOff x="533400" y="501968"/>
            <a:chExt cx="6839045" cy="1422082"/>
          </a:xfrm>
        </p:grpSpPr>
        <p:sp>
          <p:nvSpPr>
            <p:cNvPr id="3" name="TextBox 3"/>
            <p:cNvSpPr txBox="1"/>
            <p:nvPr/>
          </p:nvSpPr>
          <p:spPr>
            <a:xfrm>
              <a:off x="554355" y="501968"/>
              <a:ext cx="2221563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滚动预测 · 网页可逐组揭示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33400" y="952500"/>
              <a:ext cx="683904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第67组的突然上升，模型没有预测到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67690" y="1558290"/>
              <a:ext cx="412623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先给出预测，再与真实检测结果比较。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382905" y="2349818"/>
            <a:ext cx="7611332" cy="3379470"/>
            <a:chOff x="382905" y="2349818"/>
            <a:chExt cx="7611332" cy="3379470"/>
          </a:xfrm>
        </p:grpSpPr>
        <p:sp>
          <p:nvSpPr>
            <p:cNvPr id="7" name="Line 7"/>
            <p:cNvSpPr/>
            <p:nvPr/>
          </p:nvSpPr>
          <p:spPr>
            <a:xfrm>
              <a:off x="952500" y="5286375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rgbClr val="D7E2E7"/>
              </a:solidFill>
            </a:ln>
          </p:spPr>
        </p:sp>
        <p:sp>
          <p:nvSpPr>
            <p:cNvPr id="8" name="Line 8"/>
            <p:cNvSpPr/>
            <p:nvPr/>
          </p:nvSpPr>
          <p:spPr>
            <a:xfrm>
              <a:off x="952500" y="4333875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rgbClr val="D7E2E7"/>
              </a:solidFill>
            </a:ln>
          </p:spPr>
        </p:sp>
        <p:sp>
          <p:nvSpPr>
            <p:cNvPr id="9" name="Line 9"/>
            <p:cNvSpPr/>
            <p:nvPr/>
          </p:nvSpPr>
          <p:spPr>
            <a:xfrm>
              <a:off x="952500" y="3381375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rgbClr val="D7E2E7"/>
              </a:solidFill>
            </a:ln>
          </p:spPr>
        </p:sp>
        <p:sp>
          <p:nvSpPr>
            <p:cNvPr id="10" name="Line 10"/>
            <p:cNvSpPr/>
            <p:nvPr/>
          </p:nvSpPr>
          <p:spPr>
            <a:xfrm>
              <a:off x="952500" y="2428875"/>
              <a:ext cx="6858000" cy="9525"/>
            </a:xfrm>
            <a:custGeom>
              <a:avLst/>
              <a:gdLst/>
              <a:ahLst/>
              <a:cxnLst/>
              <a:rect l="l" t="t" r="r" b="b"/>
              <a:pathLst>
                <a:path w="6858000" h="9525">
                  <a:moveTo>
                    <a:pt x="0" y="0"/>
                  </a:moveTo>
                  <a:lnTo>
                    <a:pt x="6858000" y="0"/>
                  </a:lnTo>
                </a:path>
              </a:pathLst>
            </a:custGeom>
            <a:noFill/>
            <a:ln w="9525">
              <a:solidFill>
                <a:srgbClr val="D7E2E7"/>
              </a:solidFill>
            </a:ln>
          </p:spPr>
        </p:sp>
        <p:grpSp>
          <p:nvGrpSpPr>
            <p:cNvPr id="19" name="Group 19"/>
            <p:cNvGrpSpPr/>
            <p:nvPr/>
          </p:nvGrpSpPr>
          <p:grpSpPr>
            <a:xfrm>
              <a:off x="382905" y="2349818"/>
              <a:ext cx="7611332" cy="3379470"/>
              <a:chOff x="382905" y="2349818"/>
              <a:chExt cx="7611332" cy="3379470"/>
            </a:xfrm>
          </p:grpSpPr>
          <p:sp>
            <p:nvSpPr>
              <p:cNvPr id="11" name="TextBox 11"/>
              <p:cNvSpPr txBox="1"/>
              <p:nvPr/>
            </p:nvSpPr>
            <p:spPr>
              <a:xfrm>
                <a:off x="497205" y="5207318"/>
                <a:ext cx="268319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0%</a:t>
                </a:r>
              </a:p>
            </p:txBody>
          </p:sp>
          <p:sp>
            <p:nvSpPr>
              <p:cNvPr id="12" name="TextBox 12"/>
              <p:cNvSpPr txBox="1"/>
              <p:nvPr/>
            </p:nvSpPr>
            <p:spPr>
              <a:xfrm>
                <a:off x="382905" y="4254818"/>
                <a:ext cx="3673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10%</a:t>
                </a:r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382905" y="3302318"/>
                <a:ext cx="3673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20%</a:t>
                </a:r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382905" y="2349818"/>
                <a:ext cx="36733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30%</a:t>
                </a:r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840105" y="5454968"/>
                <a:ext cx="232315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63</a:t>
                </a:r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2649855" y="5454968"/>
                <a:ext cx="232315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67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4935855" y="5454968"/>
                <a:ext cx="232315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72</a:t>
                </a:r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7221855" y="5454968"/>
                <a:ext cx="77238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78（组）</a:t>
                </a:r>
              </a:p>
            </p:txBody>
          </p:sp>
        </p:grpSp>
      </p:grpSp>
      <p:grpSp>
        <p:nvGrpSpPr>
          <p:cNvPr id="24" name="Group 24"/>
          <p:cNvGrpSpPr/>
          <p:nvPr/>
        </p:nvGrpSpPr>
        <p:grpSpPr>
          <a:xfrm>
            <a:off x="952500" y="4527423"/>
            <a:ext cx="6858000" cy="1630489"/>
            <a:chOff x="952500" y="4527423"/>
            <a:chExt cx="6858000" cy="1630489"/>
          </a:xfrm>
        </p:grpSpPr>
        <p:sp>
          <p:nvSpPr>
            <p:cNvPr id="21" name="Polyline 21"/>
            <p:cNvSpPr/>
            <p:nvPr/>
          </p:nvSpPr>
          <p:spPr>
            <a:xfrm>
              <a:off x="952500" y="4527423"/>
              <a:ext cx="6858000" cy="522351"/>
            </a:xfrm>
            <a:custGeom>
              <a:avLst/>
              <a:gdLst/>
              <a:ahLst/>
              <a:cxnLst/>
              <a:rect l="l" t="t" r="r" b="b"/>
              <a:pathLst>
                <a:path w="6858000" h="522351">
                  <a:moveTo>
                    <a:pt x="0" y="410813"/>
                  </a:moveTo>
                  <a:lnTo>
                    <a:pt x="457200" y="253270"/>
                  </a:lnTo>
                  <a:lnTo>
                    <a:pt x="914400" y="411861"/>
                  </a:lnTo>
                  <a:lnTo>
                    <a:pt x="1371600" y="495109"/>
                  </a:lnTo>
                  <a:lnTo>
                    <a:pt x="1828800" y="414909"/>
                  </a:lnTo>
                  <a:lnTo>
                    <a:pt x="2286000" y="214408"/>
                  </a:lnTo>
                  <a:lnTo>
                    <a:pt x="2743200" y="140589"/>
                  </a:lnTo>
                  <a:lnTo>
                    <a:pt x="3200400" y="0"/>
                  </a:lnTo>
                  <a:lnTo>
                    <a:pt x="3657600" y="246317"/>
                  </a:lnTo>
                  <a:lnTo>
                    <a:pt x="4114800" y="252889"/>
                  </a:lnTo>
                  <a:lnTo>
                    <a:pt x="4572000" y="258128"/>
                  </a:lnTo>
                  <a:lnTo>
                    <a:pt x="5029200" y="262509"/>
                  </a:lnTo>
                  <a:lnTo>
                    <a:pt x="5486400" y="387096"/>
                  </a:lnTo>
                  <a:lnTo>
                    <a:pt x="5943600" y="478155"/>
                  </a:lnTo>
                  <a:lnTo>
                    <a:pt x="6400800" y="446913"/>
                  </a:lnTo>
                  <a:lnTo>
                    <a:pt x="6858000" y="522351"/>
                  </a:lnTo>
                </a:path>
              </a:pathLst>
            </a:custGeom>
            <a:noFill/>
            <a:ln w="38100">
              <a:solidFill>
                <a:srgbClr val="1B9E9A"/>
              </a:solidFill>
            </a:ln>
          </p:spPr>
        </p:sp>
        <p:sp>
          <p:nvSpPr>
            <p:cNvPr id="22" name="Line 22"/>
            <p:cNvSpPr/>
            <p:nvPr/>
          </p:nvSpPr>
          <p:spPr>
            <a:xfrm>
              <a:off x="952500" y="5962650"/>
              <a:ext cx="361950" cy="9525"/>
            </a:xfrm>
            <a:custGeom>
              <a:avLst/>
              <a:gdLst/>
              <a:ahLst/>
              <a:cxnLst/>
              <a:rect l="l" t="t" r="r" b="b"/>
              <a:pathLst>
                <a:path w="361950" h="9525">
                  <a:moveTo>
                    <a:pt x="0" y="0"/>
                  </a:moveTo>
                  <a:lnTo>
                    <a:pt x="361950" y="0"/>
                  </a:lnTo>
                </a:path>
              </a:pathLst>
            </a:custGeom>
            <a:noFill/>
            <a:ln w="38100">
              <a:solidFill>
                <a:srgbClr val="1B9E9A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411605" y="5883592"/>
              <a:ext cx="880396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ARIMA预测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52500" y="2838450"/>
            <a:ext cx="6858000" cy="3319462"/>
            <a:chOff x="952500" y="2838450"/>
            <a:chExt cx="6858000" cy="3319462"/>
          </a:xfrm>
        </p:grpSpPr>
        <p:sp>
          <p:nvSpPr>
            <p:cNvPr id="25" name="Polyline 25"/>
            <p:cNvSpPr/>
            <p:nvPr/>
          </p:nvSpPr>
          <p:spPr>
            <a:xfrm>
              <a:off x="952500" y="2905125"/>
              <a:ext cx="6858000" cy="2381250"/>
            </a:xfrm>
            <a:custGeom>
              <a:avLst/>
              <a:gdLst/>
              <a:ahLst/>
              <a:cxnLst/>
              <a:rect l="l" t="t" r="r" b="b"/>
              <a:pathLst>
                <a:path w="6858000" h="2381250">
                  <a:moveTo>
                    <a:pt x="0" y="952500"/>
                  </a:moveTo>
                  <a:lnTo>
                    <a:pt x="457200" y="2381250"/>
                  </a:lnTo>
                  <a:lnTo>
                    <a:pt x="914400" y="2381250"/>
                  </a:lnTo>
                  <a:lnTo>
                    <a:pt x="1371600" y="1428750"/>
                  </a:lnTo>
                  <a:lnTo>
                    <a:pt x="1828800" y="0"/>
                  </a:lnTo>
                  <a:lnTo>
                    <a:pt x="2286000" y="1428750"/>
                  </a:lnTo>
                  <a:lnTo>
                    <a:pt x="2743200" y="952500"/>
                  </a:lnTo>
                  <a:lnTo>
                    <a:pt x="3200400" y="2381250"/>
                  </a:lnTo>
                  <a:lnTo>
                    <a:pt x="3657600" y="1905000"/>
                  </a:lnTo>
                  <a:lnTo>
                    <a:pt x="4114800" y="1905000"/>
                  </a:lnTo>
                  <a:lnTo>
                    <a:pt x="4572000" y="1905000"/>
                  </a:lnTo>
                  <a:lnTo>
                    <a:pt x="5029200" y="2381250"/>
                  </a:lnTo>
                  <a:lnTo>
                    <a:pt x="5486400" y="2381250"/>
                  </a:lnTo>
                  <a:lnTo>
                    <a:pt x="5943600" y="1905000"/>
                  </a:lnTo>
                  <a:lnTo>
                    <a:pt x="6400800" y="2381250"/>
                  </a:lnTo>
                  <a:lnTo>
                    <a:pt x="6858000" y="2381250"/>
                  </a:lnTo>
                </a:path>
              </a:pathLst>
            </a:custGeom>
            <a:noFill/>
            <a:ln w="28575">
              <a:solidFill>
                <a:srgbClr val="0B2233"/>
              </a:solidFill>
            </a:ln>
          </p:spPr>
        </p:sp>
        <p:sp>
          <p:nvSpPr>
            <p:cNvPr id="26" name="Ellipse 26"/>
            <p:cNvSpPr/>
            <p:nvPr/>
          </p:nvSpPr>
          <p:spPr>
            <a:xfrm>
              <a:off x="2714625" y="2838450"/>
              <a:ext cx="133350" cy="133350"/>
            </a:xfrm>
            <a:prstGeom prst="ellipse">
              <a:avLst/>
            </a:prstGeom>
            <a:solidFill>
              <a:srgbClr val="EB7954"/>
            </a:solidFill>
            <a:ln>
              <a:noFill/>
            </a:ln>
          </p:spPr>
        </p:sp>
        <p:sp>
          <p:nvSpPr>
            <p:cNvPr id="27" name="Line 27"/>
            <p:cNvSpPr/>
            <p:nvPr/>
          </p:nvSpPr>
          <p:spPr>
            <a:xfrm>
              <a:off x="3048000" y="5962650"/>
              <a:ext cx="361950" cy="9525"/>
            </a:xfrm>
            <a:custGeom>
              <a:avLst/>
              <a:gdLst/>
              <a:ahLst/>
              <a:cxnLst/>
              <a:rect l="l" t="t" r="r" b="b"/>
              <a:pathLst>
                <a:path w="361950" h="9525">
                  <a:moveTo>
                    <a:pt x="0" y="0"/>
                  </a:moveTo>
                  <a:lnTo>
                    <a:pt x="361950" y="0"/>
                  </a:lnTo>
                </a:path>
              </a:pathLst>
            </a:custGeom>
            <a:noFill/>
            <a:ln w="28575">
              <a:solidFill>
                <a:srgbClr val="0B2233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3507105" y="5883592"/>
              <a:ext cx="7543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真实结果</a:t>
              </a:r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8477250" y="2333625"/>
            <a:ext cx="2756154" cy="3619500"/>
            <a:chOff x="8477250" y="2333625"/>
            <a:chExt cx="2756154" cy="3619500"/>
          </a:xfrm>
        </p:grpSpPr>
        <p:sp>
          <p:nvSpPr>
            <p:cNvPr id="30" name="Line 30"/>
            <p:cNvSpPr/>
            <p:nvPr/>
          </p:nvSpPr>
          <p:spPr>
            <a:xfrm>
              <a:off x="8477250" y="2333625"/>
              <a:ext cx="9525" cy="3619500"/>
            </a:xfrm>
            <a:custGeom>
              <a:avLst/>
              <a:gdLst/>
              <a:ahLst/>
              <a:cxnLst/>
              <a:rect l="l" t="t" r="r" b="b"/>
              <a:pathLst>
                <a:path w="9525" h="3619500">
                  <a:moveTo>
                    <a:pt x="0" y="0"/>
                  </a:moveTo>
                  <a:lnTo>
                    <a:pt x="0" y="3619500"/>
                  </a:lnTo>
                </a:path>
              </a:pathLst>
            </a:custGeom>
            <a:noFill/>
            <a:ln w="9525">
              <a:solidFill>
                <a:srgbClr val="D7E2E7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835390" y="2425065"/>
              <a:ext cx="78981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第67组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8801100" y="2838450"/>
              <a:ext cx="1224439" cy="9144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4500" dirty="0">
                  <a:solidFill>
                    <a:srgbClr val="EB7954"/>
                  </a:solidFill>
                  <a:latin typeface="Arial"/>
                  <a:ea typeface="Microsoft YaHei"/>
                  <a:cs typeface="Arial"/>
                </a:rPr>
                <a:t>25%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8835390" y="3558540"/>
              <a:ext cx="239801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实际：5条失败 / 20条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835390" y="4234815"/>
              <a:ext cx="147389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预测：3.61%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835390" y="4682490"/>
              <a:ext cx="100584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绝对误差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829675" y="5024438"/>
              <a:ext cx="2082403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21.39个百分点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841105" y="5645468"/>
              <a:ext cx="2374582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突发波动仍需实际检测发现。</a:t>
              </a:r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558165" y="6363652"/>
            <a:ext cx="4101179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07484"/>
                </a:solidFill>
                <a:latin typeface="Arial"/>
                <a:ea typeface="Microsoft YaHei"/>
                <a:cs typeface="Arial"/>
              </a:rPr>
              <a:t>来源：后16组一步滚动预测。真实值与预测值均按不合格率展示。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1226165" y="6363652"/>
            <a:ext cx="411972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1050">
                <a:solidFill>
                  <a:srgbClr val="607484"/>
                </a:solidFill>
                <a:latin typeface="Arial"/>
                <a:ea typeface="Microsoft YaHei"/>
                <a:cs typeface="Arial"/>
              </a:rPr>
              <a:t>08 / 11</a:t>
            </a:r>
            <a:endParaRPr lang="zh-CN" sz="1050" dirty="0">
              <a:solidFill>
                <a:srgbClr val="607484"/>
              </a:solidFill>
              <a:latin typeface="Arial"/>
              <a:ea typeface="Microsoft YaHei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3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image">
                                      <p:cBhvr>
                                        <p:cTn id="1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600"/>
                            </p:stCondLst>
                            <p:childTnLst>
                              <p:par>
                                <p:cTn id="21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23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0" grpId="0"/>
      <p:bldP spid="24" grpId="0"/>
      <p:bldP spid="29" grpId="0"/>
      <p:bldP spid="3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2F6F7"/>
          </a:solidFill>
          <a:ln>
            <a:noFill/>
          </a:ln>
        </p:spPr>
      </p:sp>
      <p:grpSp>
        <p:nvGrpSpPr>
          <p:cNvPr id="6" name="Group 6"/>
          <p:cNvGrpSpPr/>
          <p:nvPr/>
        </p:nvGrpSpPr>
        <p:grpSpPr>
          <a:xfrm>
            <a:off x="533400" y="501968"/>
            <a:ext cx="7217092" cy="1422082"/>
            <a:chOff x="533400" y="501968"/>
            <a:chExt cx="7217092" cy="1422082"/>
          </a:xfrm>
        </p:grpSpPr>
        <p:sp>
          <p:nvSpPr>
            <p:cNvPr id="3" name="TextBox 3"/>
            <p:cNvSpPr txBox="1"/>
            <p:nvPr/>
          </p:nvSpPr>
          <p:spPr>
            <a:xfrm>
              <a:off x="554355" y="501968"/>
              <a:ext cx="7543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效果比较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33400" y="952500"/>
              <a:ext cx="7217092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平均绝对误差下降，较大误差没有改善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567690" y="1558290"/>
              <a:ext cx="439026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同样的16组后续记录，同样的可用历史。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96265" y="2253615"/>
            <a:ext cx="5907786" cy="3875723"/>
            <a:chOff x="596265" y="2253615"/>
            <a:chExt cx="5907786" cy="3875723"/>
          </a:xfrm>
        </p:grpSpPr>
        <p:sp>
          <p:nvSpPr>
            <p:cNvPr id="7" name="TextBox 7"/>
            <p:cNvSpPr txBox="1"/>
            <p:nvPr/>
          </p:nvSpPr>
          <p:spPr>
            <a:xfrm>
              <a:off x="596265" y="2253615"/>
              <a:ext cx="3202114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平均绝对误差 MAE（百分点）</a:t>
              </a:r>
            </a:p>
          </p:txBody>
        </p:sp>
        <p:sp>
          <p:nvSpPr>
            <p:cNvPr id="8" name="Line 8"/>
            <p:cNvSpPr/>
            <p:nvPr/>
          </p:nvSpPr>
          <p:spPr>
            <a:xfrm>
              <a:off x="2333625" y="2762250"/>
              <a:ext cx="9525" cy="2571750"/>
            </a:xfrm>
            <a:custGeom>
              <a:avLst/>
              <a:gdLst/>
              <a:ahLst/>
              <a:cxnLst/>
              <a:rect l="l" t="t" r="r" b="b"/>
              <a:pathLst>
                <a:path w="9525" h="2571750">
                  <a:moveTo>
                    <a:pt x="0" y="0"/>
                  </a:moveTo>
                  <a:lnTo>
                    <a:pt x="0" y="2571750"/>
                  </a:lnTo>
                </a:path>
              </a:pathLst>
            </a:custGeom>
            <a:noFill/>
            <a:ln w="9525">
              <a:solidFill>
                <a:srgbClr val="607484"/>
              </a:solidFill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596265" y="3015615"/>
              <a:ext cx="693801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ARIMA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333625" y="2867025"/>
              <a:ext cx="3127438" cy="495300"/>
            </a:xfrm>
            <a:prstGeom prst="rect">
              <a:avLst/>
            </a:prstGeom>
            <a:solidFill>
              <a:srgbClr val="1B9E9A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596890" y="3006090"/>
              <a:ext cx="57378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5.47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596265" y="3872865"/>
              <a:ext cx="14859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历史累计平均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2333625" y="3724275"/>
              <a:ext cx="3473863" cy="495300"/>
            </a:xfrm>
            <a:prstGeom prst="rect">
              <a:avLst/>
            </a:prstGeom>
            <a:solidFill>
              <a:srgbClr val="607484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5930265" y="3863340"/>
              <a:ext cx="57378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6.08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596265" y="4730115"/>
              <a:ext cx="113785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前5组平均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333625" y="4581525"/>
              <a:ext cx="3393281" cy="495300"/>
            </a:xfrm>
            <a:prstGeom prst="rect">
              <a:avLst/>
            </a:prstGeom>
            <a:solidFill>
              <a:srgbClr val="EB7954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5882640" y="4720590"/>
              <a:ext cx="57378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EB7954"/>
                  </a:solidFill>
                  <a:latin typeface="Arial"/>
                  <a:ea typeface="Microsoft YaHei"/>
                  <a:cs typeface="Arial"/>
                </a:rPr>
                <a:t>5.94</a:t>
              </a:r>
            </a:p>
          </p:txBody>
        </p:sp>
        <p:grpSp>
          <p:nvGrpSpPr>
            <p:cNvPr id="23" name="Group 23"/>
            <p:cNvGrpSpPr/>
            <p:nvPr/>
          </p:nvGrpSpPr>
          <p:grpSpPr>
            <a:xfrm>
              <a:off x="601980" y="5426392"/>
              <a:ext cx="5229177" cy="702946"/>
              <a:chOff x="601980" y="5426392"/>
              <a:chExt cx="5229177" cy="702946"/>
            </a:xfrm>
          </p:grpSpPr>
          <p:sp>
            <p:nvSpPr>
              <p:cNvPr id="18" name="TextBox 18"/>
              <p:cNvSpPr txBox="1"/>
              <p:nvPr/>
            </p:nvSpPr>
            <p:spPr>
              <a:xfrm>
                <a:off x="2268855" y="5426392"/>
                <a:ext cx="13330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0</a:t>
                </a:r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3411855" y="5426392"/>
                <a:ext cx="13330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2</a:t>
                </a:r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4554855" y="5426392"/>
                <a:ext cx="13330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4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5697855" y="5426392"/>
                <a:ext cx="133302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6</a:t>
                </a:r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601980" y="5855018"/>
                <a:ext cx="2554605" cy="27432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l"/>
                <a:r>
                  <a:rPr lang="zh-CN" sz="1350" dirty="0">
                    <a:solidFill>
                      <a:srgbClr val="607484"/>
                    </a:solidFill>
                    <a:latin typeface="Arial"/>
                    <a:ea typeface="Microsoft YaHei"/>
                    <a:cs typeface="Arial"/>
                  </a:rPr>
                  <a:t>数值越低，平均预测误差越小。</a:t>
                </a:r>
              </a:p>
            </p:txBody>
          </p:sp>
        </p:grpSp>
      </p:grpSp>
      <p:grpSp>
        <p:nvGrpSpPr>
          <p:cNvPr id="28" name="Group 28"/>
          <p:cNvGrpSpPr/>
          <p:nvPr/>
        </p:nvGrpSpPr>
        <p:grpSpPr>
          <a:xfrm>
            <a:off x="7286625" y="2339340"/>
            <a:ext cx="2854071" cy="1699260"/>
            <a:chOff x="7286625" y="2339340"/>
            <a:chExt cx="2854071" cy="1699260"/>
          </a:xfrm>
        </p:grpSpPr>
        <p:sp>
          <p:nvSpPr>
            <p:cNvPr id="25" name="TextBox 25"/>
            <p:cNvSpPr txBox="1"/>
            <p:nvPr/>
          </p:nvSpPr>
          <p:spPr>
            <a:xfrm>
              <a:off x="7406640" y="2339340"/>
              <a:ext cx="265004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MAE相对历史平均法降低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7286625" y="2781300"/>
              <a:ext cx="2512695" cy="1219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600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9.97%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406640" y="3672840"/>
              <a:ext cx="273405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绝对减少约0.61个百分点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406640" y="4305300"/>
            <a:ext cx="4118610" cy="1895475"/>
            <a:chOff x="7406640" y="4305300"/>
            <a:chExt cx="4118610" cy="1895475"/>
          </a:xfrm>
        </p:grpSpPr>
        <p:sp>
          <p:nvSpPr>
            <p:cNvPr id="29" name="Line 29"/>
            <p:cNvSpPr/>
            <p:nvPr/>
          </p:nvSpPr>
          <p:spPr>
            <a:xfrm>
              <a:off x="7429500" y="4305300"/>
              <a:ext cx="4095750" cy="9525"/>
            </a:xfrm>
            <a:custGeom>
              <a:avLst/>
              <a:gdLst/>
              <a:ahLst/>
              <a:cxnLst/>
              <a:rect l="l" t="t" r="r" b="b"/>
              <a:pathLst>
                <a:path w="4095750" h="9525">
                  <a:moveTo>
                    <a:pt x="0" y="0"/>
                  </a:moveTo>
                  <a:lnTo>
                    <a:pt x="4095750" y="0"/>
                  </a:lnTo>
                </a:path>
              </a:pathLst>
            </a:custGeom>
            <a:noFill/>
            <a:ln w="9525">
              <a:solidFill>
                <a:srgbClr val="D7E2E7"/>
              </a:solidFill>
            </a:ln>
          </p:spPr>
        </p:sp>
        <p:sp>
          <p:nvSpPr>
            <p:cNvPr id="30" name="TextBox 30"/>
            <p:cNvSpPr txBox="1"/>
            <p:nvPr/>
          </p:nvSpPr>
          <p:spPr>
            <a:xfrm>
              <a:off x="7406640" y="4501515"/>
              <a:ext cx="2277999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RMSE：ARIMA为7.49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7406640" y="4911090"/>
              <a:ext cx="3430143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607484"/>
                  </a:solidFill>
                  <a:latin typeface="Arial"/>
                  <a:ea typeface="Microsoft YaHei"/>
                  <a:cs typeface="Arial"/>
                </a:rPr>
                <a:t>历史平均7.22 · 前5组平均7.34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7406640" y="5482590"/>
              <a:ext cx="220599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需要同时看平均误差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406640" y="5835015"/>
              <a:ext cx="14859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0B2233"/>
                  </a:solidFill>
                  <a:latin typeface="Arial"/>
                  <a:ea typeface="Microsoft YaHei"/>
                  <a:cs typeface="Arial"/>
                </a:rPr>
                <a:t>与较大误差。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558165" y="6363652"/>
            <a:ext cx="5396341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607484"/>
                </a:solidFill>
                <a:latin typeface="Arial"/>
                <a:ea typeface="Microsoft YaHei"/>
                <a:cs typeface="Arial"/>
              </a:rPr>
              <a:t>来源：本次16组滚动检验。MAE、RMSE单位均为百分点，按未四舍五入数值计算降幅。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226165" y="6363652"/>
            <a:ext cx="411972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1050">
                <a:solidFill>
                  <a:srgbClr val="607484"/>
                </a:solidFill>
                <a:latin typeface="Arial"/>
                <a:ea typeface="Microsoft YaHei"/>
                <a:cs typeface="Arial"/>
              </a:rPr>
              <a:t>09 / 11</a:t>
            </a:r>
            <a:endParaRPr lang="zh-CN" sz="1050" dirty="0">
              <a:solidFill>
                <a:srgbClr val="607484"/>
              </a:solidFill>
              <a:latin typeface="Arial"/>
              <a:ea typeface="Microsoft YaHei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700"/>
                            </p:stCondLst>
                            <p:childTnLst>
                              <p:par>
                                <p:cTn id="17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lide(fromBottom)">
                                      <p:cBhvr>
                                        <p:cTn id="1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4" grpId="0"/>
      <p:bldP spid="28" grpId="0"/>
      <p:bldP spid="3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27A89092-B6DE-4B59-88ED-671BE281E05F}"/>
              </a:ext>
            </a:extLst>
          </p:cNvPr>
          <p:cNvSpPr>
            <a:spLocks noGrp="1"/>
          </p:cNvSpPr>
          <p:nvPr/>
        </p:nvSpPr>
        <p:spPr>
          <a:xfrm>
            <a:off x="571500" y="400050"/>
            <a:ext cx="104775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0">
                <a:solidFill>
                  <a:srgbClr val="168C89"/>
                </a:solidFill>
              </a:defRPr>
            </a:defPPr>
            <a:lvl1pPr>
              <a:defRPr sz="1350" b="0">
                <a:solidFill>
                  <a:srgbClr val="168C89"/>
                </a:solidFill>
              </a:defRPr>
            </a:lvl1pPr>
            <a:lvl2pPr>
              <a:defRPr sz="1350" b="0">
                <a:solidFill>
                  <a:srgbClr val="168C89"/>
                </a:solidFill>
              </a:defRPr>
            </a:lvl2pPr>
            <a:lvl3pPr>
              <a:defRPr sz="1350" b="0">
                <a:solidFill>
                  <a:srgbClr val="168C89"/>
                </a:solidFill>
              </a:defRPr>
            </a:lvl3pPr>
            <a:lvl4pPr>
              <a:defRPr sz="1350" b="0">
                <a:solidFill>
                  <a:srgbClr val="168C89"/>
                </a:solidFill>
              </a:defRPr>
            </a:lvl4pPr>
            <a:lvl5pPr>
              <a:defRPr sz="1350" b="0">
                <a:solidFill>
                  <a:srgbClr val="168C89"/>
                </a:solidFill>
              </a:defRPr>
            </a:lvl5pPr>
            <a:lvl6pPr>
              <a:defRPr sz="1350" b="0">
                <a:solidFill>
                  <a:srgbClr val="168C89"/>
                </a:solidFill>
              </a:defRPr>
            </a:lvl6pPr>
            <a:lvl7pPr>
              <a:defRPr sz="1350" b="0">
                <a:solidFill>
                  <a:srgbClr val="168C89"/>
                </a:solidFill>
              </a:defRPr>
            </a:lvl7pPr>
            <a:lvl8pPr>
              <a:defRPr sz="1350" b="0">
                <a:solidFill>
                  <a:srgbClr val="168C89"/>
                </a:solidFill>
              </a:defRPr>
            </a:lvl8pPr>
            <a:lvl9pPr>
              <a:defRPr sz="1350" b="0">
                <a:solidFill>
                  <a:srgbClr val="168C89"/>
                </a:solidFill>
              </a:defRPr>
            </a:lvl9pPr>
          </a:lstStyle>
          <a:p>
            <a:pPr>
              <a:defRPr sz="1350" b="0">
                <a:solidFill>
                  <a:srgbClr val="168C89"/>
                </a:solidFill>
              </a:defRPr>
            </a:pPr>
            <a:r>
              <a:rPr sz="1350" b="0">
                <a:solidFill>
                  <a:srgbClr val="168C89"/>
                </a:solidFill>
              </a:rPr>
              <a:t>视频与提交材料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944A3AF-1482-424A-A474-09140681D839}"/>
              </a:ext>
            </a:extLst>
          </p:cNvPr>
          <p:cNvSpPr>
            <a:spLocks noGrp="1"/>
          </p:cNvSpPr>
          <p:nvPr/>
        </p:nvSpPr>
        <p:spPr>
          <a:xfrm>
            <a:off x="571500" y="904875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0B2233"/>
                </a:solidFill>
              </a:defRPr>
            </a:defPPr>
            <a:lvl1pPr>
              <a:defRPr sz="3000" b="1">
                <a:solidFill>
                  <a:srgbClr val="0B2233"/>
                </a:solidFill>
              </a:defRPr>
            </a:lvl1pPr>
            <a:lvl2pPr>
              <a:defRPr sz="3000" b="1">
                <a:solidFill>
                  <a:srgbClr val="0B2233"/>
                </a:solidFill>
              </a:defRPr>
            </a:lvl2pPr>
            <a:lvl3pPr>
              <a:defRPr sz="3000" b="1">
                <a:solidFill>
                  <a:srgbClr val="0B2233"/>
                </a:solidFill>
              </a:defRPr>
            </a:lvl3pPr>
            <a:lvl4pPr>
              <a:defRPr sz="3000" b="1">
                <a:solidFill>
                  <a:srgbClr val="0B2233"/>
                </a:solidFill>
              </a:defRPr>
            </a:lvl4pPr>
            <a:lvl5pPr>
              <a:defRPr sz="3000" b="1">
                <a:solidFill>
                  <a:srgbClr val="0B2233"/>
                </a:solidFill>
              </a:defRPr>
            </a:lvl5pPr>
            <a:lvl6pPr>
              <a:defRPr sz="3000" b="1">
                <a:solidFill>
                  <a:srgbClr val="0B2233"/>
                </a:solidFill>
              </a:defRPr>
            </a:lvl6pPr>
            <a:lvl7pPr>
              <a:defRPr sz="3000" b="1">
                <a:solidFill>
                  <a:srgbClr val="0B2233"/>
                </a:solidFill>
              </a:defRPr>
            </a:lvl7pPr>
            <a:lvl8pPr>
              <a:defRPr sz="3000" b="1">
                <a:solidFill>
                  <a:srgbClr val="0B2233"/>
                </a:solidFill>
              </a:defRPr>
            </a:lvl8pPr>
            <a:lvl9pPr>
              <a:defRPr sz="3000" b="1">
                <a:solidFill>
                  <a:srgbClr val="0B2233"/>
                </a:solidFill>
              </a:defRPr>
            </a:lvl9pPr>
          </a:lstStyle>
          <a:p>
            <a:pPr>
              <a:defRPr sz="3000" b="1">
                <a:solidFill>
                  <a:srgbClr val="0B2233"/>
                </a:solidFill>
              </a:defRPr>
            </a:pPr>
            <a:r>
              <a:rPr sz="3000" b="1">
                <a:solidFill>
                  <a:srgbClr val="0B2233"/>
                </a:solidFill>
              </a:rPr>
              <a:t>视频回顾与六项材料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B3AB613-93F4-4E21-B25E-77A7C8A4473D}"/>
              </a:ext>
            </a:extLst>
          </p:cNvPr>
          <p:cNvSpPr>
            <a:spLocks noGrp="1"/>
          </p:cNvSpPr>
          <p:nvPr/>
        </p:nvSpPr>
        <p:spPr>
          <a:xfrm>
            <a:off x="571500" y="5905500"/>
            <a:ext cx="6953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75" b="0">
                <a:solidFill>
                  <a:srgbClr val="5F7380"/>
                </a:solidFill>
              </a:defRPr>
            </a:defPPr>
            <a:lvl1pPr>
              <a:defRPr sz="1575" b="0">
                <a:solidFill>
                  <a:srgbClr val="5F7380"/>
                </a:solidFill>
              </a:defRPr>
            </a:lvl1pPr>
            <a:lvl2pPr>
              <a:defRPr sz="1575" b="0">
                <a:solidFill>
                  <a:srgbClr val="5F7380"/>
                </a:solidFill>
              </a:defRPr>
            </a:lvl2pPr>
            <a:lvl3pPr>
              <a:defRPr sz="1575" b="0">
                <a:solidFill>
                  <a:srgbClr val="5F7380"/>
                </a:solidFill>
              </a:defRPr>
            </a:lvl3pPr>
            <a:lvl4pPr>
              <a:defRPr sz="1575" b="0">
                <a:solidFill>
                  <a:srgbClr val="5F7380"/>
                </a:solidFill>
              </a:defRPr>
            </a:lvl4pPr>
            <a:lvl5pPr>
              <a:defRPr sz="1575" b="0">
                <a:solidFill>
                  <a:srgbClr val="5F7380"/>
                </a:solidFill>
              </a:defRPr>
            </a:lvl5pPr>
            <a:lvl6pPr>
              <a:defRPr sz="1575" b="0">
                <a:solidFill>
                  <a:srgbClr val="5F7380"/>
                </a:solidFill>
              </a:defRPr>
            </a:lvl6pPr>
            <a:lvl7pPr>
              <a:defRPr sz="1575" b="0">
                <a:solidFill>
                  <a:srgbClr val="5F7380"/>
                </a:solidFill>
              </a:defRPr>
            </a:lvl7pPr>
            <a:lvl8pPr>
              <a:defRPr sz="1575" b="0">
                <a:solidFill>
                  <a:srgbClr val="5F7380"/>
                </a:solidFill>
              </a:defRPr>
            </a:lvl8pPr>
            <a:lvl9pPr>
              <a:defRPr sz="1575" b="0">
                <a:solidFill>
                  <a:srgbClr val="5F7380"/>
                </a:solidFill>
              </a:defRPr>
            </a:lvl9pPr>
          </a:lstStyle>
          <a:p>
            <a:pPr>
              <a:defRPr sz="1575" b="0">
                <a:solidFill>
                  <a:srgbClr val="5F7380"/>
                </a:solidFill>
              </a:defRPr>
            </a:pPr>
            <a:r>
              <a:rPr sz="1575" b="0">
                <a:solidFill>
                  <a:srgbClr val="5F7380"/>
                </a:solidFill>
              </a:rPr>
              <a:t>点击视频画面播放，约56秒，含字幕和合成配音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EBD562D-FCBB-49E5-A337-B300A6FCE096}"/>
              </a:ext>
            </a:extLst>
          </p:cNvPr>
          <p:cNvSpPr>
            <a:spLocks noGrp="1"/>
          </p:cNvSpPr>
          <p:nvPr/>
        </p:nvSpPr>
        <p:spPr>
          <a:xfrm>
            <a:off x="8143875" y="1952625"/>
            <a:ext cx="3476625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1">
                <a:solidFill>
                  <a:srgbClr val="0B2233"/>
                </a:solidFill>
              </a:defRPr>
            </a:defPPr>
            <a:lvl1pPr>
              <a:defRPr sz="1950" b="1">
                <a:solidFill>
                  <a:srgbClr val="0B2233"/>
                </a:solidFill>
              </a:defRPr>
            </a:lvl1pPr>
            <a:lvl2pPr>
              <a:defRPr sz="1950" b="1">
                <a:solidFill>
                  <a:srgbClr val="0B2233"/>
                </a:solidFill>
              </a:defRPr>
            </a:lvl2pPr>
            <a:lvl3pPr>
              <a:defRPr sz="1950" b="1">
                <a:solidFill>
                  <a:srgbClr val="0B2233"/>
                </a:solidFill>
              </a:defRPr>
            </a:lvl3pPr>
            <a:lvl4pPr>
              <a:defRPr sz="1950" b="1">
                <a:solidFill>
                  <a:srgbClr val="0B2233"/>
                </a:solidFill>
              </a:defRPr>
            </a:lvl4pPr>
            <a:lvl5pPr>
              <a:defRPr sz="1950" b="1">
                <a:solidFill>
                  <a:srgbClr val="0B2233"/>
                </a:solidFill>
              </a:defRPr>
            </a:lvl5pPr>
            <a:lvl6pPr>
              <a:defRPr sz="1950" b="1">
                <a:solidFill>
                  <a:srgbClr val="0B2233"/>
                </a:solidFill>
              </a:defRPr>
            </a:lvl6pPr>
            <a:lvl7pPr>
              <a:defRPr sz="1950" b="1">
                <a:solidFill>
                  <a:srgbClr val="0B2233"/>
                </a:solidFill>
              </a:defRPr>
            </a:lvl7pPr>
            <a:lvl8pPr>
              <a:defRPr sz="1950" b="1">
                <a:solidFill>
                  <a:srgbClr val="0B2233"/>
                </a:solidFill>
              </a:defRPr>
            </a:lvl8pPr>
            <a:lvl9pPr>
              <a:defRPr sz="1950" b="1">
                <a:solidFill>
                  <a:srgbClr val="0B2233"/>
                </a:solidFill>
              </a:defRPr>
            </a:lvl9pPr>
          </a:lstStyle>
          <a:p>
            <a:pPr>
              <a:defRPr sz="1950" b="1">
                <a:solidFill>
                  <a:srgbClr val="0B2233"/>
                </a:solidFill>
              </a:defRPr>
            </a:pPr>
            <a:r>
              <a:rPr sz="1950" b="1">
                <a:solidFill>
                  <a:srgbClr val="0B2233"/>
                </a:solidFill>
              </a:rPr>
              <a:t>随包提交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30373E4-24FC-4203-9D9D-16B901CC75BF}"/>
              </a:ext>
            </a:extLst>
          </p:cNvPr>
          <p:cNvSpPr>
            <a:spLocks noGrp="1"/>
          </p:cNvSpPr>
          <p:nvPr/>
        </p:nvSpPr>
        <p:spPr>
          <a:xfrm>
            <a:off x="8143875" y="2571750"/>
            <a:ext cx="3476625" cy="2667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0B2233"/>
                </a:solidFill>
              </a:defRPr>
            </a:defPPr>
            <a:lvl1pPr>
              <a:defRPr sz="1800" b="0">
                <a:solidFill>
                  <a:srgbClr val="0B2233"/>
                </a:solidFill>
              </a:defRPr>
            </a:lvl1pPr>
            <a:lvl2pPr>
              <a:defRPr sz="1800" b="0">
                <a:solidFill>
                  <a:srgbClr val="0B2233"/>
                </a:solidFill>
              </a:defRPr>
            </a:lvl2pPr>
            <a:lvl3pPr>
              <a:defRPr sz="1800" b="0">
                <a:solidFill>
                  <a:srgbClr val="0B2233"/>
                </a:solidFill>
              </a:defRPr>
            </a:lvl3pPr>
            <a:lvl4pPr>
              <a:defRPr sz="1800" b="0">
                <a:solidFill>
                  <a:srgbClr val="0B2233"/>
                </a:solidFill>
              </a:defRPr>
            </a:lvl4pPr>
            <a:lvl5pPr>
              <a:defRPr sz="1800" b="0">
                <a:solidFill>
                  <a:srgbClr val="0B2233"/>
                </a:solidFill>
              </a:defRPr>
            </a:lvl5pPr>
            <a:lvl6pPr>
              <a:defRPr sz="1800" b="0">
                <a:solidFill>
                  <a:srgbClr val="0B2233"/>
                </a:solidFill>
              </a:defRPr>
            </a:lvl6pPr>
            <a:lvl7pPr>
              <a:defRPr sz="1800" b="0">
                <a:solidFill>
                  <a:srgbClr val="0B2233"/>
                </a:solidFill>
              </a:defRPr>
            </a:lvl7pPr>
            <a:lvl8pPr>
              <a:defRPr sz="1800" b="0">
                <a:solidFill>
                  <a:srgbClr val="0B2233"/>
                </a:solidFill>
              </a:defRPr>
            </a:lvl8pPr>
            <a:lvl9pPr>
              <a:defRPr sz="1800" b="0">
                <a:solidFill>
                  <a:srgbClr val="0B2233"/>
                </a:solidFill>
              </a:defRPr>
            </a:lvl9pPr>
          </a:lstStyle>
          <a:p>
            <a:pPr>
              <a:defRPr sz="1800" b="0">
                <a:solidFill>
                  <a:srgbClr val="0B2233"/>
                </a:solidFill>
              </a:defRPr>
            </a:pPr>
            <a:r>
              <a:rPr sz="1800" b="0">
                <a:solidFill>
                  <a:srgbClr val="0B2233"/>
                </a:solidFill>
              </a:rPr>
              <a:t>01 原始数据</a:t>
            </a:r>
          </a:p>
          <a:p>
            <a:pPr>
              <a:defRPr sz="1800" b="0">
                <a:solidFill>
                  <a:srgbClr val="0B2233"/>
                </a:solidFill>
              </a:defRPr>
            </a:pPr>
            <a:r>
              <a:rPr sz="1800" b="0">
                <a:solidFill>
                  <a:srgbClr val="0B2233"/>
                </a:solidFill>
              </a:rPr>
              <a:t>02 导入文件与程序</a:t>
            </a:r>
          </a:p>
          <a:p>
            <a:pPr>
              <a:defRPr sz="1800" b="0">
                <a:solidFill>
                  <a:srgbClr val="0B2233"/>
                </a:solidFill>
              </a:defRPr>
            </a:pPr>
            <a:r>
              <a:rPr sz="1800" b="0">
                <a:solidFill>
                  <a:srgbClr val="0B2233"/>
                </a:solidFill>
              </a:rPr>
              <a:t>03 导出结果与图表</a:t>
            </a:r>
          </a:p>
          <a:p>
            <a:pPr>
              <a:defRPr sz="1800" b="0">
                <a:solidFill>
                  <a:srgbClr val="0B2233"/>
                </a:solidFill>
              </a:defRPr>
            </a:pPr>
            <a:r>
              <a:rPr sz="1800" b="0">
                <a:solidFill>
                  <a:srgbClr val="0B2233"/>
                </a:solidFill>
              </a:rPr>
              <a:t>04 本汇报PPT</a:t>
            </a:r>
          </a:p>
          <a:p>
            <a:pPr>
              <a:defRPr sz="1800" b="0">
                <a:solidFill>
                  <a:srgbClr val="0B2233"/>
                </a:solidFill>
              </a:defRPr>
            </a:pPr>
            <a:r>
              <a:rPr sz="1800" b="0">
                <a:solidFill>
                  <a:srgbClr val="0B2233"/>
                </a:solidFill>
              </a:rPr>
              <a:t>05 MP4讲解视频</a:t>
            </a:r>
          </a:p>
          <a:p>
            <a:pPr>
              <a:defRPr sz="1800" b="0">
                <a:solidFill>
                  <a:srgbClr val="0B2233"/>
                </a:solidFill>
              </a:defRPr>
            </a:pPr>
            <a:r>
              <a:rPr sz="1800" b="0">
                <a:solidFill>
                  <a:srgbClr val="0B2233"/>
                </a:solidFill>
              </a:rPr>
              <a:t>06 安装程序与离线依赖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482F10A-B643-4B75-8BBD-D2CA2FC5E63B}"/>
              </a:ext>
            </a:extLst>
          </p:cNvPr>
          <p:cNvSpPr>
            <a:spLocks noGrp="1"/>
          </p:cNvSpPr>
          <p:nvPr/>
        </p:nvSpPr>
        <p:spPr>
          <a:xfrm>
            <a:off x="571500" y="6238875"/>
            <a:ext cx="109537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75" b="0">
                <a:solidFill>
                  <a:srgbClr val="5F7380"/>
                </a:solidFill>
              </a:defRPr>
            </a:defPPr>
            <a:lvl1pPr>
              <a:defRPr sz="1275" b="0">
                <a:solidFill>
                  <a:srgbClr val="5F7380"/>
                </a:solidFill>
              </a:defRPr>
            </a:lvl1pPr>
            <a:lvl2pPr>
              <a:defRPr sz="1275" b="0">
                <a:solidFill>
                  <a:srgbClr val="5F7380"/>
                </a:solidFill>
              </a:defRPr>
            </a:lvl2pPr>
            <a:lvl3pPr>
              <a:defRPr sz="1275" b="0">
                <a:solidFill>
                  <a:srgbClr val="5F7380"/>
                </a:solidFill>
              </a:defRPr>
            </a:lvl3pPr>
            <a:lvl4pPr>
              <a:defRPr sz="1275" b="0">
                <a:solidFill>
                  <a:srgbClr val="5F7380"/>
                </a:solidFill>
              </a:defRPr>
            </a:lvl4pPr>
            <a:lvl5pPr>
              <a:defRPr sz="1275" b="0">
                <a:solidFill>
                  <a:srgbClr val="5F7380"/>
                </a:solidFill>
              </a:defRPr>
            </a:lvl5pPr>
            <a:lvl6pPr>
              <a:defRPr sz="1275" b="0">
                <a:solidFill>
                  <a:srgbClr val="5F7380"/>
                </a:solidFill>
              </a:defRPr>
            </a:lvl6pPr>
            <a:lvl7pPr>
              <a:defRPr sz="1275" b="0">
                <a:solidFill>
                  <a:srgbClr val="5F7380"/>
                </a:solidFill>
              </a:defRPr>
            </a:lvl7pPr>
            <a:lvl8pPr>
              <a:defRPr sz="1275" b="0">
                <a:solidFill>
                  <a:srgbClr val="5F7380"/>
                </a:solidFill>
              </a:defRPr>
            </a:lvl8pPr>
            <a:lvl9pPr>
              <a:defRPr sz="1275" b="0">
                <a:solidFill>
                  <a:srgbClr val="5F7380"/>
                </a:solidFill>
              </a:defRPr>
            </a:lvl9pPr>
          </a:lstStyle>
          <a:p>
            <a:pPr>
              <a:defRPr sz="1275" b="0">
                <a:solidFill>
                  <a:srgbClr val="5F7380"/>
                </a:solidFill>
              </a:defRPr>
            </a:pPr>
            <a:r>
              <a:rPr sz="1275" b="0">
                <a:solidFill>
                  <a:srgbClr val="5F7380"/>
                </a:solidFill>
              </a:rPr>
              <a:t>网页顶部“提交材料”可现场查看数据和结果。安装用于重新计算，观看汇报无需安装Python。</a:t>
            </a:r>
          </a:p>
        </p:txBody>
      </p:sp>
      <p:pic>
        <p:nvPicPr>
          <p:cNvPr id="8" name="讲解视频_点击播放">
            <a:hlinkClick action="ppaction://media"/>
            <a:extLst>
              <a:ext uri="{FF2B5EF4-FFF2-40B4-BE49-F238E27FC236}">
                <a16:creationId xmlns:a16="http://schemas.microsoft.com/office/drawing/2014/main" id="{600448D5-F570-CAE2-B83A-AFBE28897EE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71500" y="1905001"/>
            <a:ext cx="6858000" cy="3857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7887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8"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2233"/>
          </a:solidFill>
          <a:ln>
            <a:noFill/>
          </a:ln>
        </p:spPr>
      </p:sp>
      <p:grpSp>
        <p:nvGrpSpPr>
          <p:cNvPr id="5" name="Group 5"/>
          <p:cNvGrpSpPr/>
          <p:nvPr/>
        </p:nvGrpSpPr>
        <p:grpSpPr>
          <a:xfrm>
            <a:off x="533400" y="501968"/>
            <a:ext cx="6376988" cy="1174432"/>
            <a:chOff x="533400" y="501968"/>
            <a:chExt cx="6376988" cy="1174432"/>
          </a:xfrm>
        </p:grpSpPr>
        <p:sp>
          <p:nvSpPr>
            <p:cNvPr id="3" name="TextBox 3"/>
            <p:cNvSpPr txBox="1"/>
            <p:nvPr/>
          </p:nvSpPr>
          <p:spPr>
            <a:xfrm>
              <a:off x="554355" y="501968"/>
              <a:ext cx="75438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管理启示</a:t>
              </a: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533400" y="1066800"/>
              <a:ext cx="6376988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用预测辅助检查，用检验选择方法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581025" y="2381250"/>
            <a:ext cx="4876800" cy="3000375"/>
            <a:chOff x="581025" y="2381250"/>
            <a:chExt cx="4876800" cy="3000375"/>
          </a:xfrm>
        </p:grpSpPr>
        <p:sp>
          <p:nvSpPr>
            <p:cNvPr id="6" name="TextBox 6"/>
            <p:cNvSpPr txBox="1"/>
            <p:nvPr/>
          </p:nvSpPr>
          <p:spPr>
            <a:xfrm>
              <a:off x="581025" y="2381250"/>
              <a:ext cx="3956685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我用ARIMA预测下一组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81025" y="2981325"/>
              <a:ext cx="40767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检测样本的不合格率，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581025" y="3581400"/>
              <a:ext cx="4876800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000" dirty="0">
                  <a:solidFill>
                    <a:srgbClr val="1B9E9A"/>
                  </a:solidFill>
                  <a:latin typeface="Arial"/>
                  <a:ea typeface="Microsoft YaHei"/>
                  <a:cs typeface="Arial"/>
                </a:rPr>
                <a:t>再检验它是否优于平均法。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596265" y="4615815"/>
              <a:ext cx="3370136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D7E2E7"/>
                  </a:solidFill>
                  <a:latin typeface="Arial"/>
                  <a:ea typeface="Microsoft YaHei"/>
                  <a:cs typeface="Arial"/>
                </a:rPr>
                <a:t>本次平均绝对误差改善约10%，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96265" y="5015865"/>
              <a:ext cx="388620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D7E2E7"/>
                  </a:solidFill>
                  <a:latin typeface="Arial"/>
                  <a:ea typeface="Microsoft YaHei"/>
                  <a:cs typeface="Arial"/>
                </a:rPr>
                <a:t>较大的波动仍需要实际检测与核实。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7762875" y="2333625"/>
            <a:ext cx="3762375" cy="3581400"/>
            <a:chOff x="7762875" y="2333625"/>
            <a:chExt cx="3762375" cy="3581400"/>
          </a:xfrm>
        </p:grpSpPr>
        <p:sp>
          <p:nvSpPr>
            <p:cNvPr id="12" name="Line 12"/>
            <p:cNvSpPr/>
            <p:nvPr/>
          </p:nvSpPr>
          <p:spPr>
            <a:xfrm>
              <a:off x="7762875" y="2333625"/>
              <a:ext cx="3762375" cy="9525"/>
            </a:xfrm>
            <a:custGeom>
              <a:avLst/>
              <a:gdLst/>
              <a:ahLst/>
              <a:cxnLst/>
              <a:rect l="l" t="t" r="r" b="b"/>
              <a:pathLst>
                <a:path w="3762375" h="9525">
                  <a:moveTo>
                    <a:pt x="0" y="0"/>
                  </a:moveTo>
                  <a:lnTo>
                    <a:pt x="3762375" y="0"/>
                  </a:lnTo>
                </a:path>
              </a:pathLst>
            </a:custGeom>
            <a:noFill/>
            <a:ln w="28575">
              <a:solidFill>
                <a:srgbClr val="1B9E9A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924800" y="2595562"/>
              <a:ext cx="2757488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保留简单方法作对照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930515" y="3053715"/>
              <a:ext cx="292608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D7E2E7"/>
                  </a:solidFill>
                  <a:latin typeface="Arial"/>
                  <a:ea typeface="Microsoft YaHei"/>
                  <a:cs typeface="Arial"/>
                </a:rPr>
                <a:t>通过预测效果判断模型价值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762875" y="3619500"/>
              <a:ext cx="3762375" cy="9525"/>
            </a:xfrm>
            <a:custGeom>
              <a:avLst/>
              <a:gdLst/>
              <a:ahLst/>
              <a:cxnLst/>
              <a:rect l="l" t="t" r="r" b="b"/>
              <a:pathLst>
                <a:path w="3762375" h="9525">
                  <a:moveTo>
                    <a:pt x="0" y="0"/>
                  </a:moveTo>
                  <a:lnTo>
                    <a:pt x="3762375" y="0"/>
                  </a:lnTo>
                </a:path>
              </a:pathLst>
            </a:custGeom>
            <a:noFill/>
            <a:ln w="9525">
              <a:solidFill>
                <a:srgbClr val="607484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924800" y="3843338"/>
              <a:ext cx="3057525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结合实际检测安排检查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930515" y="4301490"/>
              <a:ext cx="24460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D7E2E7"/>
                  </a:solidFill>
                  <a:latin typeface="Arial"/>
                  <a:ea typeface="Microsoft YaHei"/>
                  <a:cs typeface="Arial"/>
                </a:rPr>
                <a:t>关注预测与实测的偏离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762875" y="4867275"/>
              <a:ext cx="3762375" cy="9525"/>
            </a:xfrm>
            <a:custGeom>
              <a:avLst/>
              <a:gdLst/>
              <a:ahLst/>
              <a:cxnLst/>
              <a:rect l="l" t="t" r="r" b="b"/>
              <a:pathLst>
                <a:path w="3762375" h="9525">
                  <a:moveTo>
                    <a:pt x="0" y="0"/>
                  </a:moveTo>
                  <a:lnTo>
                    <a:pt x="3762375" y="0"/>
                  </a:lnTo>
                </a:path>
              </a:pathLst>
            </a:custGeom>
            <a:noFill/>
            <a:ln w="9525">
              <a:solidFill>
                <a:srgbClr val="607484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924800" y="5091112"/>
              <a:ext cx="2757488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250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进一步加入过程信息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930515" y="5549265"/>
              <a:ext cx="268605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D7E2E7"/>
                  </a:solidFill>
                  <a:latin typeface="Arial"/>
                  <a:ea typeface="Microsoft YaHei"/>
                  <a:cs typeface="Arial"/>
                </a:rPr>
                <a:t>研究设备状态与工艺参数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558165" y="6363652"/>
            <a:ext cx="3191065" cy="21336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dirty="0">
                <a:solidFill>
                  <a:srgbClr val="D7E2E7"/>
                </a:solidFill>
                <a:latin typeface="Arial"/>
                <a:ea typeface="Microsoft YaHei"/>
                <a:cs typeface="Arial"/>
              </a:rPr>
              <a:t>质量管理学课程汇报 · 孙德鑫 ｜ 数据：UCI SECOM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26165" y="6363652"/>
            <a:ext cx="411972" cy="16158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altLang="zh-CN" sz="1050">
                <a:solidFill>
                  <a:srgbClr val="D7E2E7"/>
                </a:solidFill>
                <a:latin typeface="Arial"/>
                <a:ea typeface="Microsoft YaHei"/>
                <a:cs typeface="Arial"/>
              </a:rPr>
              <a:t>11 / 11</a:t>
            </a:r>
            <a:endParaRPr lang="zh-CN" sz="1050" dirty="0">
              <a:solidFill>
                <a:srgbClr val="D7E2E7"/>
              </a:solidFill>
              <a:latin typeface="Arial"/>
              <a:ea typeface="Microsoft YaHei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400">
        <p:fade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9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8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1" grpId="0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3026</Words>
  <Application>Microsoft Office PowerPoint</Application>
  <PresentationFormat>宽屏</PresentationFormat>
  <Paragraphs>202</Paragraphs>
  <Slides>11</Slides>
  <Notes>11</Notes>
  <HiddenSlides>0</HiddenSlides>
  <MMClips>1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德鑫 孙</cp:lastModifiedBy>
  <cp:revision>2</cp:revision>
  <dcterms:created xsi:type="dcterms:W3CDTF">2026-10-27T13:40:16Z</dcterms:created>
  <dcterms:modified xsi:type="dcterms:W3CDTF">2026-10-29T08:03:50Z</dcterms:modified>
  <cp:category/>
  <cp:contentStatus/>
  <dc:language/>
</cp:coreProperties>
</file>