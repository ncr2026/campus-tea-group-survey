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Default Extension="jpg" ContentType="image/jpeg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notesSlides/_rels/notesSlide1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1.xml"/>
</Relationships>
</file>

<file path=ppt/notesSlides/_rels/notesSlide2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2.xml"/>
</Relationships>
</file>

<file path=ppt/notesSlides/_rels/notesSlide3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3.xml"/>
</Relationships>
</file>

<file path=ppt/notesSlides/_rels/notesSlide4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4.xml"/>
</Relationships>
</file>

<file path=ppt/notesSlides/_rels/notesSlide5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5.xml"/>
</Relationships>
</file>

<file path=ppt/notesSlides/_rels/notesSlide6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6.xml"/>
</Relationships>
</file>

<file path=ppt/notesSlides/_rels/notesSlide7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7.xml"/>
</Relationships>
</file>

<file path=ppt/notesSlides/_rels/notesSlide8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8.xml"/>
</Relationships>
</file>

<file path=ppt/notesSlides/_rels/notesSlide9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9.xml"/>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大家好，我是孙德鑫。今天汇报的问题是：生产检测不合格率能否提前预测？我使用公开的半导体制造检测数据，建立ARIMA模型，预测下一组20条检测记录的不合格率，再与两种简单平均方法比较。重点是说明方法用来解决什么问题，以及它在真实数据中有什么效果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质量管理中，检测能够告诉我们哪些样本已经失败。我的分析把问题向前推进一步：过去的检测表现，能否帮助判断接下来一组记录的失败比例？如果预测有一定价值，它可以为检查安排提供辅助信息。因此，我既要建立预测，也要用后面的真实记录检验，而不是仅仅展示拟合曲线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数据来自UCI的SECOM数据集。这次使用检测时间和通过、失败标签，共1567条记录，其中104条失败，样本总体不合格率约为6.64%。记录从2008年7月19日到10月17日，每天的记录数不同。如果直接按天统计，小样本日期的比例可能特别不稳定。因此，我按时间排序，每连续20条组成一个分析组，让各组分母一致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里用20个芯片状对象表示20条真实检测记录。以第1组为例，揭示检测结果后，里面有4条失败，所以这一组的不合格率是4除以20，等于20%。三维场景的作用是把一条条记录怎样变成一个质量指标讲清楚。芯片外形和位置只是教学示意。全部记录组成78个完整分析组，剩余7条只计入总体描述。这里的组是分析时划分的，不是数据提供的生产批次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张图是78组的不合格率，横轴按检测记录顺序排列。29组没有失败，但最高的一组达到35%。可以看到，波动并不平滑，偶尔会突然上升。这说明预测不能只看一条平均线，也提醒我们：模型可能无法提前捕捉每次突发波动。接下来我保留最后16组，检验模型对未来记录的预测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我用前62组训练与选择模型，后16组做滚动检验。由于比例中存在零值，先做平滑和logit变换，再在训练数据中比较低阶ARIMA模型，选出ARIMA零、一、一。可以简单理解为：分析前后变化，并利用过去的预测误差调整下一次预测。每次只预测下一组；得到真实结果后，再更新历史。两个对照是历史累计平均和最近5组平均。三种方法都只能看到当时已经发生的记录，所以比较口径一致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现在先给出预测，再揭示真实结果。第67组是一个很有代表性的例子：ARIMA预测不合格率约为3.61%，实际却达到25%，也就是20条中有5条失败，绝对误差约21.39个百分点。模型没有预测到这次突然上升。因此，预测可以提供辅助判断，但实际检测仍然重要。网页可以逐组揭示结果，让大家看到整个检验过程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把16次预测放在一起，ARIMA的平均绝对误差是5.47个百分点，历史累计平均是6.08，最近5组平均是5.94。相对历史平均法，ARIMA的MAE降低约9.97%，绝对改善约0.61个百分点。不过，平方后再平均的RMSE更重视较大的误差。ARIMA的RMSE是7.49，高于两个对照。这两个指标合起来说明：本次平均绝对误差有所改善，但较大的预测误差没有改善。不能笼统说复杂模型全面更好。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回到老师的问题：我用ARIMA做了什么？我用它预测下一组检测样本的不合格率，并通过真实后续记录，与简单平均法比较它的实际价值。本次结果提示三个管理上的做法：保留简单方法作为对照；把预测与实际检测结合，关注明显偏离；进一步加入设备和工艺信息，检验是否能改善突发波动预测。我的汇报到这里，谢谢大家。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f6f61c99cb38ee63.jpg"/>
  <Relationship Id="rId3" Type="http://schemas.openxmlformats.org/officeDocument/2006/relationships/notesSlide" Target="../notesSlides/notesSlide1.xml"/>
</Relationships>
</file>

<file path=ppt/slides/_rels/slide2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f6f61c99cb38ee63.jpg"/>
  <Relationship Id="rId3" Type="http://schemas.openxmlformats.org/officeDocument/2006/relationships/notesSlide" Target="../notesSlides/notesSlide2.xml"/>
</Relationships>
</file>

<file path=ppt/slides/_rels/slide3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3.xml"/>
</Relationships>
</file>

<file path=ppt/slides/_rels/slide4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4.xml"/>
</Relationships>
</file>

<file path=ppt/slides/_rels/slide5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5.xml"/>
</Relationships>
</file>

<file path=ppt/slides/_rels/slide6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6.xml"/>
</Relationships>
</file>

<file path=ppt/slides/_rels/slide7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7.xml"/>
</Relationships>
</file>

<file path=ppt/slides/_rels/slide8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8.xml"/>
</Relationships>
</file>

<file path=ppt/slides/_rels/slide9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9.xml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2"/>
          <p:cNvPicPr>
            <a:picLocks noChangeAspect="1"/>
          </p:cNvPicPr>
          <p:nvPr/>
        </p:nvPicPr>
        <p:blipFill>
          <a:blip r:embed="rId2"/>
          <a:srcRect l="0" t="27" r="0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B2233">
                  <a:alpha val="94000"/>
                </a:srgbClr>
              </a:gs>
              <a:gs pos="60000">
                <a:srgbClr val="0B2233">
                  <a:alpha val="45000"/>
                </a:srgbClr>
              </a:gs>
              <a:gs pos="100000">
                <a:srgbClr val="0B2233">
                  <a:alpha val="0"/>
                </a:srgbClr>
              </a:gs>
            </a:gsLst>
            <a:lin ang="2700000" scaled="1"/>
          </a:gra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561975" y="844868"/>
            <a:ext cx="4914900" cy="2898457"/>
            <a:chOff x="561975" y="844868"/>
            <a:chExt cx="4914900" cy="2898457"/>
          </a:xfrm>
        </p:grpSpPr>
        <p:sp>
          <p:nvSpPr>
            <p:cNvPr id="4" name="TextBox 4"/>
            <p:cNvSpPr txBox="1"/>
            <p:nvPr/>
          </p:nvSpPr>
          <p:spPr>
            <a:xfrm>
              <a:off x="601980" y="844868"/>
              <a:ext cx="2221563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质量管理学 · 真实数据分析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561975" y="1990725"/>
              <a:ext cx="4914900" cy="17526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6600"/>
                </a:lnSpc>
              </a:pPr>
              <a:r>
                <a:rPr lang="zh-CN" sz="45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生产检测不合格率</a:t>
              </a:r>
              <a:r>
                <a:rPr lang="zh-CN" sz="45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能否提前预测？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624840" y="3901440"/>
            <a:ext cx="3130106" cy="965835"/>
            <a:chOff x="624840" y="3901440"/>
            <a:chExt cx="3130106" cy="965835"/>
          </a:xfrm>
        </p:grpSpPr>
        <p:sp>
          <p:nvSpPr>
            <p:cNvPr id="7" name="TextBox 7"/>
            <p:cNvSpPr txBox="1"/>
            <p:nvPr/>
          </p:nvSpPr>
          <p:spPr>
            <a:xfrm>
              <a:off x="624840" y="3901440"/>
              <a:ext cx="3130106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基于SECOM数据的ARIMA分析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624840" y="4501515"/>
              <a:ext cx="1725930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汇报人：孙德鑫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628650" y="5486400"/>
            <a:ext cx="5040630" cy="766762"/>
            <a:chOff x="628650" y="5486400"/>
            <a:chExt cx="5040630" cy="766762"/>
          </a:xfrm>
        </p:grpSpPr>
        <p:sp>
          <p:nvSpPr>
            <p:cNvPr id="10" name="TextBox 10"/>
            <p:cNvSpPr txBox="1"/>
            <p:nvPr/>
          </p:nvSpPr>
          <p:spPr>
            <a:xfrm>
              <a:off x="628650" y="5486400"/>
              <a:ext cx="1176338" cy="609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1,567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2867025" y="5486400"/>
              <a:ext cx="516255" cy="609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78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4533900" y="5486400"/>
              <a:ext cx="516255" cy="609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16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649605" y="5978842"/>
              <a:ext cx="75438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检测记录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2887980" y="5978842"/>
              <a:ext cx="934402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完整分析组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4554855" y="5978842"/>
              <a:ext cx="1114425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逐组预测检验</a:t>
              </a:r>
            </a:p>
          </p:txBody>
        </p:sp>
      </p:grpSp>
      <p:sp>
        <p:nvSpPr>
          <p:cNvPr id="17" name="TextBox 17"/>
          <p:cNvSpPr txBox="1"/>
          <p:nvPr/>
        </p:nvSpPr>
        <p:spPr>
          <a:xfrm>
            <a:off x="634365" y="6468428"/>
            <a:ext cx="313505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来源：UCI SECOM（2008） 背景为AI生成概念插图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5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9" grpId="0"/>
      <p:bldP spid="16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2F6F7"/>
          </a:solidFill>
          <a:ln>
            <a:noFill/>
          </a:ln>
        </p:spPr>
      </p:sp>
      <p:grpSp>
        <p:nvGrpSpPr>
          <p:cNvPr id="5" name="Group 5"/>
          <p:cNvGrpSpPr/>
          <p:nvPr/>
        </p:nvGrpSpPr>
        <p:grpSpPr>
          <a:xfrm>
            <a:off x="533400" y="511492"/>
            <a:ext cx="7637145" cy="1050608"/>
            <a:chOff x="533400" y="511492"/>
            <a:chExt cx="7637145" cy="1050608"/>
          </a:xfrm>
        </p:grpSpPr>
        <p:sp>
          <p:nvSpPr>
            <p:cNvPr id="3" name="TextBox 3"/>
            <p:cNvSpPr txBox="1"/>
            <p:nvPr/>
          </p:nvSpPr>
          <p:spPr>
            <a:xfrm>
              <a:off x="554355" y="511492"/>
              <a:ext cx="75438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B9E9A"/>
                  </a:solidFill>
                  <a:latin typeface="Arial"/>
                  <a:ea typeface="Microsoft YaHei"/>
                  <a:cs typeface="Arial"/>
                </a:rPr>
                <a:t>研究问题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33400" y="952500"/>
              <a:ext cx="7637145" cy="609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rgbClr val="0B2233"/>
                  </a:solidFill>
                  <a:latin typeface="Arial"/>
                  <a:ea typeface="Microsoft YaHei"/>
                  <a:cs typeface="Arial"/>
                </a:rPr>
                <a:t>过去的质量表现，能否帮助下一次检查？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571500" y="2352675"/>
            <a:ext cx="3886200" cy="2809875"/>
            <a:chOff x="571500" y="2352675"/>
            <a:chExt cx="3886200" cy="2809875"/>
          </a:xfrm>
        </p:grpSpPr>
        <p:sp>
          <p:nvSpPr>
            <p:cNvPr id="6" name="TextBox 6"/>
            <p:cNvSpPr txBox="1"/>
            <p:nvPr/>
          </p:nvSpPr>
          <p:spPr>
            <a:xfrm>
              <a:off x="571500" y="2352675"/>
              <a:ext cx="3886200" cy="122872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4875"/>
                </a:lnSpc>
              </a:pPr>
              <a:r>
                <a:rPr lang="zh-CN" sz="3000" dirty="0">
                  <a:solidFill>
                    <a:srgbClr val="0B2233"/>
                  </a:solidFill>
                  <a:latin typeface="Arial"/>
                  <a:ea typeface="Microsoft YaHei"/>
                  <a:cs typeface="Arial"/>
                </a:rPr>
                <a:t>看见已经发生的失败，</a:t>
              </a:r>
              <a:r>
                <a:rPr lang="zh-CN" sz="3000" dirty="0">
                  <a:solidFill>
                    <a:srgbClr val="0B2233"/>
                  </a:solidFill>
                  <a:latin typeface="Arial"/>
                  <a:ea typeface="Microsoft YaHei"/>
                  <a:cs typeface="Arial"/>
                </a:rPr>
                <a:t>再尝试预测下一组。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596265" y="3977640"/>
              <a:ext cx="3474720" cy="118491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3225"/>
                </a:lnSpc>
              </a:pPr>
              <a:r>
                <a:rPr lang="zh-CN" sz="1800" dirty="0">
                  <a:solidFill>
                    <a:srgbClr val="607484"/>
                  </a:solidFill>
                  <a:latin typeface="Arial"/>
                  <a:ea typeface="Microsoft YaHei"/>
                  <a:cs typeface="Arial"/>
                </a:rPr>
                <a:t>对象：接下来20条检测记录</a:t>
              </a:r>
              <a:r>
                <a:rPr lang="zh-CN" sz="1800" dirty="0">
                  <a:solidFill>
                    <a:srgbClr val="607484"/>
                  </a:solidFill>
                  <a:latin typeface="Arial"/>
                  <a:ea typeface="Microsoft YaHei"/>
                  <a:cs typeface="Arial"/>
                </a:rPr>
                <a:t>问题：预测是否优于简单取平均？</a:t>
              </a:r>
              <a:r>
                <a:rPr lang="zh-CN" sz="1800" dirty="0">
                  <a:solidFill>
                    <a:srgbClr val="607484"/>
                  </a:solidFill>
                  <a:latin typeface="Arial"/>
                  <a:ea typeface="Microsoft YaHei"/>
                  <a:cs typeface="Arial"/>
                </a:rPr>
                <a:t>用途：为质量检查提供辅助信息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6572250" y="2095500"/>
            <a:ext cx="5048250" cy="3524250"/>
            <a:chOff x="6572250" y="2095500"/>
            <a:chExt cx="5048250" cy="3524250"/>
          </a:xfrm>
        </p:grpSpPr>
        <p:pic>
          <p:nvPicPr>
            <p:cNvPr id="9" name="Image 9"/>
            <p:cNvPicPr>
              <a:picLocks noChangeAspect="1"/>
            </p:cNvPicPr>
            <p:nvPr/>
          </p:nvPicPr>
          <p:blipFill>
            <a:blip r:embed="rId2"/>
            <a:srcRect l="19383" t="0" r="0" b="0"/>
            <a:stretch>
              <a:fillRect/>
            </a:stretch>
          </p:blipFill>
          <p:spPr>
            <a:xfrm>
              <a:off x="6572250" y="2095500"/>
              <a:ext cx="5048250" cy="3524250"/>
            </a:xfrm>
            <a:prstGeom prst="rect">
              <a:avLst/>
            </a:prstGeom>
          </p:spPr>
        </p:pic>
        <p:sp>
          <p:nvSpPr>
            <p:cNvPr id="10" name="Rectangle 10"/>
            <p:cNvSpPr/>
            <p:nvPr/>
          </p:nvSpPr>
          <p:spPr>
            <a:xfrm>
              <a:off x="6572250" y="5095875"/>
              <a:ext cx="5048250" cy="523875"/>
            </a:xfrm>
            <a:prstGeom prst="rect">
              <a:avLst/>
            </a:prstGeom>
            <a:solidFill>
              <a:srgbClr val="0B2233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6806565" y="5253990"/>
              <a:ext cx="3886200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用后续真实记录，检验预测是否有用</a:t>
              </a:r>
            </a:p>
          </p:txBody>
        </p:sp>
      </p:grpSp>
      <p:sp>
        <p:nvSpPr>
          <p:cNvPr id="13" name="TextBox 13"/>
          <p:cNvSpPr txBox="1"/>
          <p:nvPr/>
        </p:nvSpPr>
        <p:spPr>
          <a:xfrm>
            <a:off x="558165" y="6363652"/>
            <a:ext cx="289002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07484"/>
                </a:solidFill>
                <a:latin typeface="Arial"/>
                <a:ea typeface="Microsoft YaHei"/>
                <a:cs typeface="Arial"/>
              </a:rPr>
              <a:t>研究对象：SECOM公开检测样本 图为概念插图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1226165" y="6363652"/>
            <a:ext cx="495729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07484"/>
                </a:solidFill>
                <a:latin typeface="Arial"/>
                <a:ea typeface="Microsoft YaHei"/>
                <a:cs typeface="Arial"/>
              </a:rPr>
              <a:t>02 / 09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8" grpId="0"/>
      <p:bldP spid="1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533400" y="501968"/>
            <a:ext cx="6545009" cy="1422082"/>
            <a:chOff x="533400" y="501968"/>
            <a:chExt cx="6545009" cy="1422082"/>
          </a:xfrm>
        </p:grpSpPr>
        <p:sp>
          <p:nvSpPr>
            <p:cNvPr id="3" name="TextBox 3"/>
            <p:cNvSpPr txBox="1"/>
            <p:nvPr/>
          </p:nvSpPr>
          <p:spPr>
            <a:xfrm>
              <a:off x="554355" y="501968"/>
              <a:ext cx="75438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B9E9A"/>
                  </a:solidFill>
                  <a:latin typeface="Arial"/>
                  <a:ea typeface="Microsoft YaHei"/>
                  <a:cs typeface="Arial"/>
                </a:rPr>
                <a:t>真实数据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33400" y="952500"/>
              <a:ext cx="6545009" cy="609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rgbClr val="0B2233"/>
                  </a:solidFill>
                  <a:latin typeface="Arial"/>
                  <a:ea typeface="Microsoft YaHei"/>
                  <a:cs typeface="Arial"/>
                </a:rPr>
                <a:t>1,567条记录中，有104条检测失败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567690" y="1558290"/>
              <a:ext cx="5326380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607484"/>
                  </a:solidFill>
                  <a:latin typeface="Arial"/>
                  <a:ea typeface="Microsoft YaHei"/>
                  <a:cs typeface="Arial"/>
                </a:rPr>
                <a:t>使用检测时间和通过／失败标签，构造质量指标。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542925" y="2381250"/>
            <a:ext cx="10982325" cy="1628775"/>
            <a:chOff x="542925" y="2381250"/>
            <a:chExt cx="10982325" cy="1628775"/>
          </a:xfrm>
        </p:grpSpPr>
        <p:sp>
          <p:nvSpPr>
            <p:cNvPr id="7" name="Line 7"/>
            <p:cNvSpPr/>
            <p:nvPr/>
          </p:nvSpPr>
          <p:spPr>
            <a:xfrm>
              <a:off x="619125" y="2381250"/>
              <a:ext cx="3095625" cy="9525"/>
            </a:xfrm>
            <a:custGeom>
              <a:avLst/>
              <a:gdLst/>
              <a:ahLst/>
              <a:cxnLst/>
              <a:rect l="l" t="t" r="r" b="b"/>
              <a:pathLst>
                <a:path w="3095625" h="9525">
                  <a:moveTo>
                    <a:pt x="0" y="0"/>
                  </a:moveTo>
                  <a:lnTo>
                    <a:pt x="3095625" y="0"/>
                  </a:lnTo>
                </a:path>
              </a:pathLst>
            </a:custGeom>
            <a:noFill/>
            <a:ln w="19050">
              <a:solidFill>
                <a:srgbClr val="D7E2E7"/>
              </a:solidFill>
            </a:ln>
          </p:spPr>
        </p:sp>
        <p:sp>
          <p:nvSpPr>
            <p:cNvPr id="8" name="Line 8"/>
            <p:cNvSpPr/>
            <p:nvPr/>
          </p:nvSpPr>
          <p:spPr>
            <a:xfrm>
              <a:off x="4286250" y="2381250"/>
              <a:ext cx="3095625" cy="9525"/>
            </a:xfrm>
            <a:custGeom>
              <a:avLst/>
              <a:gdLst/>
              <a:ahLst/>
              <a:cxnLst/>
              <a:rect l="l" t="t" r="r" b="b"/>
              <a:pathLst>
                <a:path w="3095625" h="9525">
                  <a:moveTo>
                    <a:pt x="0" y="0"/>
                  </a:moveTo>
                  <a:lnTo>
                    <a:pt x="3095625" y="0"/>
                  </a:lnTo>
                </a:path>
              </a:pathLst>
            </a:custGeom>
            <a:noFill/>
            <a:ln w="19050">
              <a:solidFill>
                <a:srgbClr val="D7E2E7"/>
              </a:solidFill>
            </a:ln>
          </p:spPr>
        </p:sp>
        <p:sp>
          <p:nvSpPr>
            <p:cNvPr id="9" name="Line 9"/>
            <p:cNvSpPr/>
            <p:nvPr/>
          </p:nvSpPr>
          <p:spPr>
            <a:xfrm>
              <a:off x="7953375" y="2381250"/>
              <a:ext cx="3571875" cy="9525"/>
            </a:xfrm>
            <a:custGeom>
              <a:avLst/>
              <a:gdLst/>
              <a:ahLst/>
              <a:cxnLst/>
              <a:rect l="l" t="t" r="r" b="b"/>
              <a:pathLst>
                <a:path w="3571875" h="9525">
                  <a:moveTo>
                    <a:pt x="0" y="0"/>
                  </a:moveTo>
                  <a:lnTo>
                    <a:pt x="3571875" y="0"/>
                  </a:lnTo>
                </a:path>
              </a:pathLst>
            </a:custGeom>
            <a:noFill/>
            <a:ln w="19050">
              <a:solidFill>
                <a:srgbClr val="D7E2E7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542925" y="2733675"/>
              <a:ext cx="2352675" cy="1219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000" dirty="0">
                  <a:solidFill>
                    <a:srgbClr val="0B2233"/>
                  </a:solidFill>
                  <a:latin typeface="Arial"/>
                  <a:ea typeface="Microsoft YaHei"/>
                  <a:cs typeface="Arial"/>
                </a:rPr>
                <a:t>1,567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4210050" y="2733675"/>
              <a:ext cx="1472565" cy="1219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000" dirty="0">
                  <a:solidFill>
                    <a:srgbClr val="EB7954"/>
                  </a:solidFill>
                  <a:latin typeface="Arial"/>
                  <a:ea typeface="Microsoft YaHei"/>
                  <a:cs typeface="Arial"/>
                </a:rPr>
                <a:t>104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877175" y="2733675"/>
              <a:ext cx="2512695" cy="1219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000" dirty="0">
                  <a:solidFill>
                    <a:srgbClr val="1B9E9A"/>
                  </a:solidFill>
                  <a:latin typeface="Arial"/>
                  <a:ea typeface="Microsoft YaHei"/>
                  <a:cs typeface="Arial"/>
                </a:rPr>
                <a:t>6.64%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624840" y="3644265"/>
              <a:ext cx="1005840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607484"/>
                  </a:solidFill>
                  <a:latin typeface="Arial"/>
                  <a:ea typeface="Microsoft YaHei"/>
                  <a:cs typeface="Arial"/>
                </a:rPr>
                <a:t>检测记录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4291965" y="3644265"/>
              <a:ext cx="1005840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607484"/>
                  </a:solidFill>
                  <a:latin typeface="Arial"/>
                  <a:ea typeface="Microsoft YaHei"/>
                  <a:cs typeface="Arial"/>
                </a:rPr>
                <a:t>检测失败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959090" y="3644265"/>
              <a:ext cx="1965960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607484"/>
                  </a:solidFill>
                  <a:latin typeface="Arial"/>
                  <a:ea typeface="Microsoft YaHei"/>
                  <a:cs typeface="Arial"/>
                </a:rPr>
                <a:t>样本总体不合格率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596265" y="4667250"/>
            <a:ext cx="10928985" cy="1228725"/>
            <a:chOff x="596265" y="4667250"/>
            <a:chExt cx="10928985" cy="1228725"/>
          </a:xfrm>
        </p:grpSpPr>
        <p:sp>
          <p:nvSpPr>
            <p:cNvPr id="17" name="Line 17"/>
            <p:cNvSpPr/>
            <p:nvPr/>
          </p:nvSpPr>
          <p:spPr>
            <a:xfrm>
              <a:off x="619125" y="4667250"/>
              <a:ext cx="10906125" cy="9525"/>
            </a:xfrm>
            <a:custGeom>
              <a:avLst/>
              <a:gdLst/>
              <a:ahLst/>
              <a:cxnLst/>
              <a:rect l="l" t="t" r="r" b="b"/>
              <a:pathLst>
                <a:path w="10906125" h="9525">
                  <a:moveTo>
                    <a:pt x="0" y="0"/>
                  </a:moveTo>
                  <a:lnTo>
                    <a:pt x="10906125" y="0"/>
                  </a:lnTo>
                </a:path>
              </a:pathLst>
            </a:custGeom>
            <a:noFill/>
            <a:ln w="38100">
              <a:solidFill>
                <a:srgbClr val="1B9E9A"/>
              </a:solidFill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596265" y="4853940"/>
              <a:ext cx="1365885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0B2233"/>
                  </a:solidFill>
                  <a:latin typeface="Arial"/>
                  <a:ea typeface="Microsoft YaHei"/>
                  <a:cs typeface="Arial"/>
                </a:rPr>
                <a:t>2008.07.19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4596765" y="4853940"/>
              <a:ext cx="2229993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607484"/>
                  </a:solidFill>
                  <a:latin typeface="Arial"/>
                  <a:ea typeface="Microsoft YaHei"/>
                  <a:cs typeface="Arial"/>
                </a:rPr>
                <a:t>86个日期有检测记录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9787890" y="4853940"/>
              <a:ext cx="1365885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0B2233"/>
                  </a:solidFill>
                  <a:latin typeface="Arial"/>
                  <a:ea typeface="Microsoft YaHei"/>
                  <a:cs typeface="Arial"/>
                </a:rPr>
                <a:t>2008.10.17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596265" y="5530215"/>
              <a:ext cx="6094476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607484"/>
                  </a:solidFill>
                  <a:latin typeface="Arial"/>
                  <a:ea typeface="Microsoft YaHei"/>
                  <a:cs typeface="Arial"/>
                </a:rPr>
                <a:t>每天记录数1—62条。按检测顺序分组，统一每组样本量。</a:t>
              </a:r>
            </a:p>
          </p:txBody>
        </p:sp>
      </p:grpSp>
      <p:sp>
        <p:nvSpPr>
          <p:cNvPr id="23" name="TextBox 23"/>
          <p:cNvSpPr txBox="1"/>
          <p:nvPr/>
        </p:nvSpPr>
        <p:spPr>
          <a:xfrm>
            <a:off x="558165" y="6363652"/>
            <a:ext cx="4759261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07484"/>
                </a:solidFill>
                <a:latin typeface="Arial"/>
                <a:ea typeface="Microsoft YaHei"/>
                <a:cs typeface="Arial"/>
              </a:rPr>
              <a:t>来源：UCI SECOM，McCann &amp; Johnston（2008），DOI: 10.24432/C54305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1226165" y="6363652"/>
            <a:ext cx="495729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07484"/>
                </a:solidFill>
                <a:latin typeface="Arial"/>
                <a:ea typeface="Microsoft YaHei"/>
                <a:cs typeface="Arial"/>
              </a:rPr>
              <a:t>03 / 09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1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16" grpId="0"/>
      <p:bldP spid="2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2F6F7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533400" y="501968"/>
            <a:ext cx="5578888" cy="1422082"/>
            <a:chOff x="533400" y="501968"/>
            <a:chExt cx="5578888" cy="1422082"/>
          </a:xfrm>
        </p:grpSpPr>
        <p:sp>
          <p:nvSpPr>
            <p:cNvPr id="3" name="TextBox 3"/>
            <p:cNvSpPr txBox="1"/>
            <p:nvPr/>
          </p:nvSpPr>
          <p:spPr>
            <a:xfrm>
              <a:off x="554355" y="501968"/>
              <a:ext cx="2221563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B9E9A"/>
                  </a:solidFill>
                  <a:latin typeface="Arial"/>
                  <a:ea typeface="Microsoft YaHei"/>
                  <a:cs typeface="Arial"/>
                </a:rPr>
                <a:t>指标构造 · 三维演示对应页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33400" y="952500"/>
              <a:ext cx="5578888" cy="609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rgbClr val="0B2233"/>
                  </a:solidFill>
                  <a:latin typeface="Arial"/>
                  <a:ea typeface="Microsoft YaHei"/>
                  <a:cs typeface="Arial"/>
                </a:rPr>
                <a:t>每20条记录，形成一个分析组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567690" y="1558290"/>
              <a:ext cx="4918329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607484"/>
                  </a:solidFill>
                  <a:latin typeface="Arial"/>
                  <a:ea typeface="Microsoft YaHei"/>
                  <a:cs typeface="Arial"/>
                </a:rPr>
                <a:t>按时间排序 → 固定样本量 → 计算每组不合格率</a:t>
              </a:r>
            </a:p>
          </p:txBody>
        </p:sp>
      </p:grpSp>
      <p:grpSp>
        <p:nvGrpSpPr>
          <p:cNvPr id="48" name="Group 48"/>
          <p:cNvGrpSpPr/>
          <p:nvPr/>
        </p:nvGrpSpPr>
        <p:grpSpPr>
          <a:xfrm>
            <a:off x="666750" y="2428875"/>
            <a:ext cx="5524500" cy="2857500"/>
            <a:chOff x="666750" y="2428875"/>
            <a:chExt cx="5524500" cy="2857500"/>
          </a:xfrm>
        </p:grpSpPr>
        <p:sp>
          <p:nvSpPr>
            <p:cNvPr id="7" name="Rectangle 7"/>
            <p:cNvSpPr/>
            <p:nvPr/>
          </p:nvSpPr>
          <p:spPr>
            <a:xfrm>
              <a:off x="666750" y="2428875"/>
              <a:ext cx="952500" cy="571500"/>
            </a:xfrm>
            <a:prstGeom prst="roundRect">
              <a:avLst>
                <a:gd name="adj" fmla="val 13333"/>
              </a:avLst>
            </a:prstGeom>
            <a:solidFill>
              <a:srgbClr val="1B9E9A"/>
            </a:solidFill>
            <a:ln>
              <a:noFill/>
            </a:ln>
          </p:spPr>
        </p:sp>
        <p:sp>
          <p:nvSpPr>
            <p:cNvPr id="8" name="Rectangle 8"/>
            <p:cNvSpPr/>
            <p:nvPr/>
          </p:nvSpPr>
          <p:spPr>
            <a:xfrm>
              <a:off x="1809750" y="2428875"/>
              <a:ext cx="952500" cy="571500"/>
            </a:xfrm>
            <a:prstGeom prst="roundRect">
              <a:avLst>
                <a:gd name="adj" fmla="val 13333"/>
              </a:avLst>
            </a:prstGeom>
            <a:solidFill>
              <a:srgbClr val="1B9E9A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2952750" y="2428875"/>
              <a:ext cx="952500" cy="571500"/>
            </a:xfrm>
            <a:prstGeom prst="roundRect">
              <a:avLst>
                <a:gd name="adj" fmla="val 13333"/>
              </a:avLst>
            </a:prstGeom>
            <a:solidFill>
              <a:srgbClr val="EB7954"/>
            </a:solidFill>
            <a:ln>
              <a:noFill/>
            </a:ln>
          </p:spPr>
        </p:sp>
        <p:sp>
          <p:nvSpPr>
            <p:cNvPr id="10" name="Rectangle 10"/>
            <p:cNvSpPr/>
            <p:nvPr/>
          </p:nvSpPr>
          <p:spPr>
            <a:xfrm>
              <a:off x="4095750" y="2428875"/>
              <a:ext cx="952500" cy="571500"/>
            </a:xfrm>
            <a:prstGeom prst="roundRect">
              <a:avLst>
                <a:gd name="adj" fmla="val 13333"/>
              </a:avLst>
            </a:prstGeom>
            <a:solidFill>
              <a:srgbClr val="1B9E9A"/>
            </a:solidFill>
            <a:ln>
              <a:noFill/>
            </a:ln>
          </p:spPr>
        </p:sp>
        <p:sp>
          <p:nvSpPr>
            <p:cNvPr id="11" name="Rectangle 11"/>
            <p:cNvSpPr/>
            <p:nvPr/>
          </p:nvSpPr>
          <p:spPr>
            <a:xfrm>
              <a:off x="5238750" y="2428875"/>
              <a:ext cx="952500" cy="571500"/>
            </a:xfrm>
            <a:prstGeom prst="roundRect">
              <a:avLst>
                <a:gd name="adj" fmla="val 13333"/>
              </a:avLst>
            </a:prstGeom>
            <a:solidFill>
              <a:srgbClr val="1B9E9A"/>
            </a:solidFill>
            <a:ln>
              <a:noFill/>
            </a:ln>
          </p:spPr>
        </p:sp>
        <p:sp>
          <p:nvSpPr>
            <p:cNvPr id="12" name="Rectangle 12"/>
            <p:cNvSpPr/>
            <p:nvPr/>
          </p:nvSpPr>
          <p:spPr>
            <a:xfrm>
              <a:off x="666750" y="3190875"/>
              <a:ext cx="952500" cy="571500"/>
            </a:xfrm>
            <a:prstGeom prst="roundRect">
              <a:avLst>
                <a:gd name="adj" fmla="val 13333"/>
              </a:avLst>
            </a:prstGeom>
            <a:solidFill>
              <a:srgbClr val="1B9E9A"/>
            </a:solidFill>
            <a:ln>
              <a:noFill/>
            </a:ln>
          </p:spPr>
        </p:sp>
        <p:sp>
          <p:nvSpPr>
            <p:cNvPr id="13" name="Rectangle 13"/>
            <p:cNvSpPr/>
            <p:nvPr/>
          </p:nvSpPr>
          <p:spPr>
            <a:xfrm>
              <a:off x="1809750" y="3190875"/>
              <a:ext cx="952500" cy="571500"/>
            </a:xfrm>
            <a:prstGeom prst="roundRect">
              <a:avLst>
                <a:gd name="adj" fmla="val 13333"/>
              </a:avLst>
            </a:prstGeom>
            <a:solidFill>
              <a:srgbClr val="1B9E9A"/>
            </a:solidFill>
            <a:ln>
              <a:noFill/>
            </a:ln>
          </p:spPr>
        </p:sp>
        <p:sp>
          <p:nvSpPr>
            <p:cNvPr id="14" name="Rectangle 14"/>
            <p:cNvSpPr/>
            <p:nvPr/>
          </p:nvSpPr>
          <p:spPr>
            <a:xfrm>
              <a:off x="2952750" y="3190875"/>
              <a:ext cx="952500" cy="571500"/>
            </a:xfrm>
            <a:prstGeom prst="roundRect">
              <a:avLst>
                <a:gd name="adj" fmla="val 13333"/>
              </a:avLst>
            </a:prstGeom>
            <a:solidFill>
              <a:srgbClr val="1B9E9A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4095750" y="3190875"/>
              <a:ext cx="952500" cy="571500"/>
            </a:xfrm>
            <a:prstGeom prst="roundRect">
              <a:avLst>
                <a:gd name="adj" fmla="val 13333"/>
              </a:avLst>
            </a:prstGeom>
            <a:solidFill>
              <a:srgbClr val="1B9E9A"/>
            </a:solidFill>
            <a:ln>
              <a:noFill/>
            </a:ln>
          </p:spPr>
        </p:sp>
        <p:sp>
          <p:nvSpPr>
            <p:cNvPr id="16" name="Rectangle 16"/>
            <p:cNvSpPr/>
            <p:nvPr/>
          </p:nvSpPr>
          <p:spPr>
            <a:xfrm>
              <a:off x="5238750" y="3190875"/>
              <a:ext cx="952500" cy="571500"/>
            </a:xfrm>
            <a:prstGeom prst="roundRect">
              <a:avLst>
                <a:gd name="adj" fmla="val 13333"/>
              </a:avLst>
            </a:prstGeom>
            <a:solidFill>
              <a:srgbClr val="1B9E9A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666750" y="3952875"/>
              <a:ext cx="952500" cy="571500"/>
            </a:xfrm>
            <a:prstGeom prst="roundRect">
              <a:avLst>
                <a:gd name="adj" fmla="val 13333"/>
              </a:avLst>
            </a:prstGeom>
            <a:solidFill>
              <a:srgbClr val="EB7954"/>
            </a:solidFill>
            <a:ln>
              <a:noFill/>
            </a:ln>
          </p:spPr>
        </p:sp>
        <p:sp>
          <p:nvSpPr>
            <p:cNvPr id="18" name="Rectangle 18"/>
            <p:cNvSpPr/>
            <p:nvPr/>
          </p:nvSpPr>
          <p:spPr>
            <a:xfrm>
              <a:off x="1809750" y="3952875"/>
              <a:ext cx="952500" cy="571500"/>
            </a:xfrm>
            <a:prstGeom prst="roundRect">
              <a:avLst>
                <a:gd name="adj" fmla="val 13333"/>
              </a:avLst>
            </a:prstGeom>
            <a:solidFill>
              <a:srgbClr val="EB7954"/>
            </a:solidFill>
            <a:ln>
              <a:noFill/>
            </a:ln>
          </p:spPr>
        </p:sp>
        <p:sp>
          <p:nvSpPr>
            <p:cNvPr id="19" name="Rectangle 19"/>
            <p:cNvSpPr/>
            <p:nvPr/>
          </p:nvSpPr>
          <p:spPr>
            <a:xfrm>
              <a:off x="2952750" y="3952875"/>
              <a:ext cx="952500" cy="571500"/>
            </a:xfrm>
            <a:prstGeom prst="roundRect">
              <a:avLst>
                <a:gd name="adj" fmla="val 13333"/>
              </a:avLst>
            </a:prstGeom>
            <a:solidFill>
              <a:srgbClr val="1B9E9A"/>
            </a:solidFill>
            <a:ln>
              <a:noFill/>
            </a:ln>
          </p:spPr>
        </p:sp>
        <p:sp>
          <p:nvSpPr>
            <p:cNvPr id="20" name="Rectangle 20"/>
            <p:cNvSpPr/>
            <p:nvPr/>
          </p:nvSpPr>
          <p:spPr>
            <a:xfrm>
              <a:off x="4095750" y="3952875"/>
              <a:ext cx="952500" cy="571500"/>
            </a:xfrm>
            <a:prstGeom prst="roundRect">
              <a:avLst>
                <a:gd name="adj" fmla="val 13333"/>
              </a:avLst>
            </a:prstGeom>
            <a:solidFill>
              <a:srgbClr val="1B9E9A"/>
            </a:solidFill>
            <a:ln>
              <a:noFill/>
            </a:ln>
          </p:spPr>
        </p:sp>
        <p:sp>
          <p:nvSpPr>
            <p:cNvPr id="21" name="Rectangle 21"/>
            <p:cNvSpPr/>
            <p:nvPr/>
          </p:nvSpPr>
          <p:spPr>
            <a:xfrm>
              <a:off x="5238750" y="3952875"/>
              <a:ext cx="952500" cy="571500"/>
            </a:xfrm>
            <a:prstGeom prst="roundRect">
              <a:avLst>
                <a:gd name="adj" fmla="val 13333"/>
              </a:avLst>
            </a:prstGeom>
            <a:solidFill>
              <a:srgbClr val="EB7954"/>
            </a:solidFill>
            <a:ln>
              <a:noFill/>
            </a:ln>
          </p:spPr>
        </p:sp>
        <p:sp>
          <p:nvSpPr>
            <p:cNvPr id="22" name="Rectangle 22"/>
            <p:cNvSpPr/>
            <p:nvPr/>
          </p:nvSpPr>
          <p:spPr>
            <a:xfrm>
              <a:off x="666750" y="4714875"/>
              <a:ext cx="952500" cy="571500"/>
            </a:xfrm>
            <a:prstGeom prst="roundRect">
              <a:avLst>
                <a:gd name="adj" fmla="val 13333"/>
              </a:avLst>
            </a:prstGeom>
            <a:solidFill>
              <a:srgbClr val="1B9E9A"/>
            </a:solidFill>
            <a:ln>
              <a:noFill/>
            </a:ln>
          </p:spPr>
        </p:sp>
        <p:sp>
          <p:nvSpPr>
            <p:cNvPr id="23" name="Rectangle 23"/>
            <p:cNvSpPr/>
            <p:nvPr/>
          </p:nvSpPr>
          <p:spPr>
            <a:xfrm>
              <a:off x="1809750" y="4714875"/>
              <a:ext cx="952500" cy="571500"/>
            </a:xfrm>
            <a:prstGeom prst="roundRect">
              <a:avLst>
                <a:gd name="adj" fmla="val 13333"/>
              </a:avLst>
            </a:prstGeom>
            <a:solidFill>
              <a:srgbClr val="1B9E9A"/>
            </a:solidFill>
            <a:ln>
              <a:noFill/>
            </a:ln>
          </p:spPr>
        </p:sp>
        <p:sp>
          <p:nvSpPr>
            <p:cNvPr id="24" name="Rectangle 24"/>
            <p:cNvSpPr/>
            <p:nvPr/>
          </p:nvSpPr>
          <p:spPr>
            <a:xfrm>
              <a:off x="2952750" y="4714875"/>
              <a:ext cx="952500" cy="571500"/>
            </a:xfrm>
            <a:prstGeom prst="roundRect">
              <a:avLst>
                <a:gd name="adj" fmla="val 13333"/>
              </a:avLst>
            </a:prstGeom>
            <a:solidFill>
              <a:srgbClr val="1B9E9A"/>
            </a:solidFill>
            <a:ln>
              <a:noFill/>
            </a:ln>
          </p:spPr>
        </p:sp>
        <p:sp>
          <p:nvSpPr>
            <p:cNvPr id="25" name="Rectangle 25"/>
            <p:cNvSpPr/>
            <p:nvPr/>
          </p:nvSpPr>
          <p:spPr>
            <a:xfrm>
              <a:off x="4095750" y="4714875"/>
              <a:ext cx="952500" cy="571500"/>
            </a:xfrm>
            <a:prstGeom prst="roundRect">
              <a:avLst>
                <a:gd name="adj" fmla="val 13333"/>
              </a:avLst>
            </a:prstGeom>
            <a:solidFill>
              <a:srgbClr val="1B9E9A"/>
            </a:solidFill>
            <a:ln>
              <a:noFill/>
            </a:ln>
          </p:spPr>
        </p:sp>
        <p:sp>
          <p:nvSpPr>
            <p:cNvPr id="26" name="Rectangle 26"/>
            <p:cNvSpPr/>
            <p:nvPr/>
          </p:nvSpPr>
          <p:spPr>
            <a:xfrm>
              <a:off x="5238750" y="4714875"/>
              <a:ext cx="952500" cy="571500"/>
            </a:xfrm>
            <a:prstGeom prst="roundRect">
              <a:avLst>
                <a:gd name="adj" fmla="val 13333"/>
              </a:avLst>
            </a:prstGeom>
            <a:solidFill>
              <a:srgbClr val="1B9E9A"/>
            </a:solidFill>
            <a:ln>
              <a:noFill/>
            </a:ln>
          </p:spPr>
        </p:sp>
        <p:grpSp>
          <p:nvGrpSpPr>
            <p:cNvPr id="47" name="Group 47"/>
            <p:cNvGrpSpPr/>
            <p:nvPr/>
          </p:nvGrpSpPr>
          <p:grpSpPr>
            <a:xfrm>
              <a:off x="886111" y="2606040"/>
              <a:ext cx="5085779" cy="2651760"/>
              <a:chOff x="886111" y="2606040"/>
              <a:chExt cx="5085779" cy="2651760"/>
            </a:xfrm>
          </p:grpSpPr>
          <p:sp>
            <p:nvSpPr>
              <p:cNvPr id="27" name="TextBox 27"/>
              <p:cNvSpPr txBox="1"/>
              <p:nvPr/>
            </p:nvSpPr>
            <p:spPr>
              <a:xfrm>
                <a:off x="988124" y="2606040"/>
                <a:ext cx="309753" cy="3657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800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01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2131124" y="2606040"/>
                <a:ext cx="309753" cy="3657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800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02</a:t>
                </a: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3172111" y="2606040"/>
                <a:ext cx="513779" cy="3657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800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03 ×</a:t>
                </a:r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4417124" y="2606040"/>
                <a:ext cx="309753" cy="3657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800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04</a:t>
                </a:r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5560124" y="2606040"/>
                <a:ext cx="309753" cy="3657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800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05</a:t>
                </a: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988124" y="3368040"/>
                <a:ext cx="309753" cy="3657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800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06</a:t>
                </a:r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2131124" y="3368040"/>
                <a:ext cx="309753" cy="3657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800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07</a:t>
                </a:r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3274124" y="3368040"/>
                <a:ext cx="309753" cy="3657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800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08</a:t>
                </a:r>
              </a:p>
            </p:txBody>
          </p:sp>
          <p:sp>
            <p:nvSpPr>
              <p:cNvPr id="35" name="TextBox 35"/>
              <p:cNvSpPr txBox="1"/>
              <p:nvPr/>
            </p:nvSpPr>
            <p:spPr>
              <a:xfrm>
                <a:off x="4417124" y="3368040"/>
                <a:ext cx="309753" cy="3657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800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09</a:t>
                </a:r>
              </a:p>
            </p:txBody>
          </p:sp>
          <p:sp>
            <p:nvSpPr>
              <p:cNvPr id="36" name="TextBox 36"/>
              <p:cNvSpPr txBox="1"/>
              <p:nvPr/>
            </p:nvSpPr>
            <p:spPr>
              <a:xfrm>
                <a:off x="5560124" y="3368040"/>
                <a:ext cx="309753" cy="3657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800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10</a:t>
                </a:r>
              </a:p>
            </p:txBody>
          </p:sp>
          <p:sp>
            <p:nvSpPr>
              <p:cNvPr id="37" name="TextBox 37"/>
              <p:cNvSpPr txBox="1"/>
              <p:nvPr/>
            </p:nvSpPr>
            <p:spPr>
              <a:xfrm>
                <a:off x="886111" y="4130040"/>
                <a:ext cx="513779" cy="3657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800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11 ×</a:t>
                </a:r>
              </a:p>
            </p:txBody>
          </p:sp>
          <p:sp>
            <p:nvSpPr>
              <p:cNvPr id="38" name="TextBox 38"/>
              <p:cNvSpPr txBox="1"/>
              <p:nvPr/>
            </p:nvSpPr>
            <p:spPr>
              <a:xfrm>
                <a:off x="2029111" y="4130040"/>
                <a:ext cx="513779" cy="3657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800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12 ×</a:t>
                </a:r>
              </a:p>
            </p:txBody>
          </p:sp>
          <p:sp>
            <p:nvSpPr>
              <p:cNvPr id="39" name="TextBox 39"/>
              <p:cNvSpPr txBox="1"/>
              <p:nvPr/>
            </p:nvSpPr>
            <p:spPr>
              <a:xfrm>
                <a:off x="3274124" y="4130040"/>
                <a:ext cx="309753" cy="3657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800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13</a:t>
                </a:r>
              </a:p>
            </p:txBody>
          </p:sp>
          <p:sp>
            <p:nvSpPr>
              <p:cNvPr id="40" name="TextBox 40"/>
              <p:cNvSpPr txBox="1"/>
              <p:nvPr/>
            </p:nvSpPr>
            <p:spPr>
              <a:xfrm>
                <a:off x="4417124" y="4130040"/>
                <a:ext cx="309753" cy="3657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800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14</a:t>
                </a:r>
              </a:p>
            </p:txBody>
          </p:sp>
          <p:sp>
            <p:nvSpPr>
              <p:cNvPr id="41" name="TextBox 41"/>
              <p:cNvSpPr txBox="1"/>
              <p:nvPr/>
            </p:nvSpPr>
            <p:spPr>
              <a:xfrm>
                <a:off x="5458111" y="4130040"/>
                <a:ext cx="513779" cy="3657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800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15 ×</a:t>
                </a:r>
              </a:p>
            </p:txBody>
          </p:sp>
          <p:sp>
            <p:nvSpPr>
              <p:cNvPr id="42" name="TextBox 42"/>
              <p:cNvSpPr txBox="1"/>
              <p:nvPr/>
            </p:nvSpPr>
            <p:spPr>
              <a:xfrm>
                <a:off x="988124" y="4892040"/>
                <a:ext cx="309753" cy="3657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800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16</a:t>
                </a:r>
              </a:p>
            </p:txBody>
          </p:sp>
          <p:sp>
            <p:nvSpPr>
              <p:cNvPr id="43" name="TextBox 43"/>
              <p:cNvSpPr txBox="1"/>
              <p:nvPr/>
            </p:nvSpPr>
            <p:spPr>
              <a:xfrm>
                <a:off x="2131124" y="4892040"/>
                <a:ext cx="309753" cy="3657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800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17</a:t>
                </a:r>
              </a:p>
            </p:txBody>
          </p:sp>
          <p:sp>
            <p:nvSpPr>
              <p:cNvPr id="44" name="TextBox 44"/>
              <p:cNvSpPr txBox="1"/>
              <p:nvPr/>
            </p:nvSpPr>
            <p:spPr>
              <a:xfrm>
                <a:off x="3274124" y="4892040"/>
                <a:ext cx="309753" cy="3657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800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18</a:t>
                </a:r>
              </a:p>
            </p:txBody>
          </p:sp>
          <p:sp>
            <p:nvSpPr>
              <p:cNvPr id="45" name="TextBox 45"/>
              <p:cNvSpPr txBox="1"/>
              <p:nvPr/>
            </p:nvSpPr>
            <p:spPr>
              <a:xfrm>
                <a:off x="4417124" y="4892040"/>
                <a:ext cx="309753" cy="3657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800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19</a:t>
                </a:r>
              </a:p>
            </p:txBody>
          </p:sp>
          <p:sp>
            <p:nvSpPr>
              <p:cNvPr id="46" name="TextBox 46"/>
              <p:cNvSpPr txBox="1"/>
              <p:nvPr/>
            </p:nvSpPr>
            <p:spPr>
              <a:xfrm>
                <a:off x="5560124" y="4892040"/>
                <a:ext cx="309753" cy="3657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800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20</a:t>
                </a:r>
              </a:p>
            </p:txBody>
          </p:sp>
        </p:grpSp>
      </p:grpSp>
      <p:grpSp>
        <p:nvGrpSpPr>
          <p:cNvPr id="54" name="Group 54"/>
          <p:cNvGrpSpPr/>
          <p:nvPr/>
        </p:nvGrpSpPr>
        <p:grpSpPr>
          <a:xfrm>
            <a:off x="6972300" y="2567940"/>
            <a:ext cx="2570988" cy="2894648"/>
            <a:chOff x="6972300" y="2567940"/>
            <a:chExt cx="2570988" cy="2894648"/>
          </a:xfrm>
        </p:grpSpPr>
        <p:sp>
          <p:nvSpPr>
            <p:cNvPr id="49" name="TextBox 49"/>
            <p:cNvSpPr txBox="1"/>
            <p:nvPr/>
          </p:nvSpPr>
          <p:spPr>
            <a:xfrm>
              <a:off x="7073265" y="2567940"/>
              <a:ext cx="2265998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607484"/>
                  </a:solidFill>
                  <a:latin typeface="Arial"/>
                  <a:ea typeface="Microsoft YaHei"/>
                  <a:cs typeface="Arial"/>
                </a:rPr>
                <a:t>第1组 · 4条检测失败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6972300" y="3076575"/>
              <a:ext cx="1632585" cy="1219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000" dirty="0">
                  <a:solidFill>
                    <a:srgbClr val="1B9E9A"/>
                  </a:solidFill>
                  <a:latin typeface="Arial"/>
                  <a:ea typeface="Microsoft YaHei"/>
                  <a:cs typeface="Arial"/>
                </a:rPr>
                <a:t>20%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7067550" y="4014788"/>
              <a:ext cx="1797368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dirty="0">
                  <a:solidFill>
                    <a:srgbClr val="0B2233"/>
                  </a:solidFill>
                  <a:latin typeface="Arial"/>
                  <a:ea typeface="Microsoft YaHei"/>
                  <a:cs typeface="Arial"/>
                </a:rPr>
                <a:t>4 ÷ 20 = 20%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7073265" y="4739640"/>
              <a:ext cx="2470023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0B2233"/>
                  </a:solidFill>
                  <a:latin typeface="Arial"/>
                  <a:ea typeface="Microsoft YaHei"/>
                  <a:cs typeface="Arial"/>
                </a:rPr>
                <a:t>78组进入时间序列分析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7078980" y="5188268"/>
              <a:ext cx="2293572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607484"/>
                  </a:solidFill>
                  <a:latin typeface="Arial"/>
                  <a:ea typeface="Microsoft YaHei"/>
                  <a:cs typeface="Arial"/>
                </a:rPr>
                <a:t>尾部7条保留在总体描述中。</a:t>
              </a:r>
            </a:p>
          </p:txBody>
        </p:sp>
      </p:grpSp>
      <p:grpSp>
        <p:nvGrpSpPr>
          <p:cNvPr id="58" name="Group 58"/>
          <p:cNvGrpSpPr/>
          <p:nvPr/>
        </p:nvGrpSpPr>
        <p:grpSpPr>
          <a:xfrm>
            <a:off x="558165" y="5702618"/>
            <a:ext cx="11163729" cy="874394"/>
            <a:chOff x="558165" y="5702618"/>
            <a:chExt cx="11163729" cy="874394"/>
          </a:xfrm>
        </p:grpSpPr>
        <p:sp>
          <p:nvSpPr>
            <p:cNvPr id="55" name="TextBox 55"/>
            <p:cNvSpPr txBox="1"/>
            <p:nvPr/>
          </p:nvSpPr>
          <p:spPr>
            <a:xfrm>
              <a:off x="649605" y="5702618"/>
              <a:ext cx="2041541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607484"/>
                  </a:solidFill>
                  <a:latin typeface="Arial"/>
                  <a:ea typeface="Microsoft YaHei"/>
                  <a:cs typeface="Arial"/>
                </a:rPr>
                <a:t>青色：通过 橙色 ×：失败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558165" y="6363652"/>
              <a:ext cx="434621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07484"/>
                  </a:solidFill>
                  <a:latin typeface="Arial"/>
                  <a:ea typeface="Microsoft YaHei"/>
                  <a:cs typeface="Arial"/>
                </a:rPr>
                <a:t>来源：UCI SECOM。每组为人为构造的分析组；模型形状为教学示意。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11226165" y="6363652"/>
              <a:ext cx="495729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07484"/>
                  </a:solidFill>
                  <a:latin typeface="Arial"/>
                  <a:ea typeface="Microsoft YaHei"/>
                  <a:cs typeface="Arial"/>
                </a:rPr>
                <a:t>04 / 09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" dur="4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5" dur="4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4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48" grpId="0"/>
      <p:bldP spid="54" grpId="0"/>
      <p:bldP spid="58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533400" y="501968"/>
            <a:ext cx="6040946" cy="1422082"/>
            <a:chOff x="533400" y="501968"/>
            <a:chExt cx="6040946" cy="1422082"/>
          </a:xfrm>
        </p:grpSpPr>
        <p:sp>
          <p:nvSpPr>
            <p:cNvPr id="3" name="TextBox 3"/>
            <p:cNvSpPr txBox="1"/>
            <p:nvPr/>
          </p:nvSpPr>
          <p:spPr>
            <a:xfrm>
              <a:off x="554355" y="501968"/>
              <a:ext cx="1114425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B9E9A"/>
                  </a:solidFill>
                  <a:latin typeface="Arial"/>
                  <a:ea typeface="Microsoft YaHei"/>
                  <a:cs typeface="Arial"/>
                </a:rPr>
                <a:t>观察质量波动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33400" y="952500"/>
              <a:ext cx="6040946" cy="609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rgbClr val="0B2233"/>
                  </a:solidFill>
                  <a:latin typeface="Arial"/>
                  <a:ea typeface="Microsoft YaHei"/>
                  <a:cs typeface="Arial"/>
                </a:rPr>
                <a:t>78组记录中，29组没有检测失败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567690" y="1558290"/>
              <a:ext cx="4570286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607484"/>
                  </a:solidFill>
                  <a:latin typeface="Arial"/>
                  <a:ea typeface="Microsoft YaHei"/>
                  <a:cs typeface="Arial"/>
                </a:rPr>
                <a:t>波动并不平滑。最高组不合格率达到35%。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421005" y="2159318"/>
            <a:ext cx="10811732" cy="3569970"/>
            <a:chOff x="421005" y="2159318"/>
            <a:chExt cx="10811732" cy="3569970"/>
          </a:xfrm>
        </p:grpSpPr>
        <p:sp>
          <p:nvSpPr>
            <p:cNvPr id="7" name="Line 7"/>
            <p:cNvSpPr/>
            <p:nvPr/>
          </p:nvSpPr>
          <p:spPr>
            <a:xfrm>
              <a:off x="952500" y="5286375"/>
              <a:ext cx="10001250" cy="9525"/>
            </a:xfrm>
            <a:custGeom>
              <a:avLst/>
              <a:gdLst/>
              <a:ahLst/>
              <a:cxnLst/>
              <a:rect l="l" t="t" r="r" b="b"/>
              <a:pathLst>
                <a:path w="10001250" h="9525">
                  <a:moveTo>
                    <a:pt x="0" y="0"/>
                  </a:moveTo>
                  <a:lnTo>
                    <a:pt x="10001250" y="0"/>
                  </a:lnTo>
                </a:path>
              </a:pathLst>
            </a:custGeom>
            <a:noFill/>
            <a:ln w="9525">
              <a:solidFill>
                <a:srgbClr val="D7E2E7"/>
              </a:solidFill>
            </a:ln>
          </p:spPr>
        </p:sp>
        <p:sp>
          <p:nvSpPr>
            <p:cNvPr id="8" name="Line 8"/>
            <p:cNvSpPr/>
            <p:nvPr/>
          </p:nvSpPr>
          <p:spPr>
            <a:xfrm>
              <a:off x="952500" y="4524375"/>
              <a:ext cx="10001250" cy="9525"/>
            </a:xfrm>
            <a:custGeom>
              <a:avLst/>
              <a:gdLst/>
              <a:ahLst/>
              <a:cxnLst/>
              <a:rect l="l" t="t" r="r" b="b"/>
              <a:pathLst>
                <a:path w="10001250" h="9525">
                  <a:moveTo>
                    <a:pt x="0" y="0"/>
                  </a:moveTo>
                  <a:lnTo>
                    <a:pt x="10001250" y="0"/>
                  </a:lnTo>
                </a:path>
              </a:pathLst>
            </a:custGeom>
            <a:noFill/>
            <a:ln w="9525">
              <a:solidFill>
                <a:srgbClr val="D7E2E7"/>
              </a:solidFill>
            </a:ln>
          </p:spPr>
        </p:sp>
        <p:sp>
          <p:nvSpPr>
            <p:cNvPr id="9" name="Line 9"/>
            <p:cNvSpPr/>
            <p:nvPr/>
          </p:nvSpPr>
          <p:spPr>
            <a:xfrm>
              <a:off x="952500" y="3762375"/>
              <a:ext cx="10001250" cy="9525"/>
            </a:xfrm>
            <a:custGeom>
              <a:avLst/>
              <a:gdLst/>
              <a:ahLst/>
              <a:cxnLst/>
              <a:rect l="l" t="t" r="r" b="b"/>
              <a:pathLst>
                <a:path w="10001250" h="9525">
                  <a:moveTo>
                    <a:pt x="0" y="0"/>
                  </a:moveTo>
                  <a:lnTo>
                    <a:pt x="10001250" y="0"/>
                  </a:lnTo>
                </a:path>
              </a:pathLst>
            </a:custGeom>
            <a:noFill/>
            <a:ln w="9525">
              <a:solidFill>
                <a:srgbClr val="D7E2E7"/>
              </a:solidFill>
            </a:ln>
          </p:spPr>
        </p:sp>
        <p:sp>
          <p:nvSpPr>
            <p:cNvPr id="10" name="Line 10"/>
            <p:cNvSpPr/>
            <p:nvPr/>
          </p:nvSpPr>
          <p:spPr>
            <a:xfrm>
              <a:off x="952500" y="3000375"/>
              <a:ext cx="10001250" cy="9525"/>
            </a:xfrm>
            <a:custGeom>
              <a:avLst/>
              <a:gdLst/>
              <a:ahLst/>
              <a:cxnLst/>
              <a:rect l="l" t="t" r="r" b="b"/>
              <a:pathLst>
                <a:path w="10001250" h="9525">
                  <a:moveTo>
                    <a:pt x="0" y="0"/>
                  </a:moveTo>
                  <a:lnTo>
                    <a:pt x="10001250" y="0"/>
                  </a:lnTo>
                </a:path>
              </a:pathLst>
            </a:custGeom>
            <a:noFill/>
            <a:ln w="9525">
              <a:solidFill>
                <a:srgbClr val="D7E2E7"/>
              </a:solidFill>
            </a:ln>
          </p:spPr>
        </p:sp>
        <p:sp>
          <p:nvSpPr>
            <p:cNvPr id="11" name="Line 11"/>
            <p:cNvSpPr/>
            <p:nvPr/>
          </p:nvSpPr>
          <p:spPr>
            <a:xfrm>
              <a:off x="952500" y="2238375"/>
              <a:ext cx="10001250" cy="9525"/>
            </a:xfrm>
            <a:custGeom>
              <a:avLst/>
              <a:gdLst/>
              <a:ahLst/>
              <a:cxnLst/>
              <a:rect l="l" t="t" r="r" b="b"/>
              <a:pathLst>
                <a:path w="10001250" h="9525">
                  <a:moveTo>
                    <a:pt x="0" y="0"/>
                  </a:moveTo>
                  <a:lnTo>
                    <a:pt x="10001250" y="0"/>
                  </a:lnTo>
                </a:path>
              </a:pathLst>
            </a:custGeom>
            <a:noFill/>
            <a:ln w="9525">
              <a:solidFill>
                <a:srgbClr val="D7E2E7"/>
              </a:solidFill>
            </a:ln>
          </p:spPr>
        </p:sp>
        <p:grpSp>
          <p:nvGrpSpPr>
            <p:cNvPr id="22" name="Group 22"/>
            <p:cNvGrpSpPr/>
            <p:nvPr/>
          </p:nvGrpSpPr>
          <p:grpSpPr>
            <a:xfrm>
              <a:off x="421005" y="2159318"/>
              <a:ext cx="10811732" cy="3569970"/>
              <a:chOff x="421005" y="2159318"/>
              <a:chExt cx="10811732" cy="3569970"/>
            </a:xfrm>
          </p:grpSpPr>
          <p:sp>
            <p:nvSpPr>
              <p:cNvPr id="12" name="TextBox 12"/>
              <p:cNvSpPr txBox="1"/>
              <p:nvPr/>
            </p:nvSpPr>
            <p:spPr>
              <a:xfrm>
                <a:off x="525780" y="5207318"/>
                <a:ext cx="268319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rgbClr val="607484"/>
                    </a:solidFill>
                    <a:latin typeface="Arial"/>
                    <a:ea typeface="Microsoft YaHei"/>
                    <a:cs typeface="Arial"/>
                  </a:rPr>
                  <a:t>0%</a:t>
                </a:r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421005" y="4445318"/>
                <a:ext cx="367332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rgbClr val="607484"/>
                    </a:solidFill>
                    <a:latin typeface="Arial"/>
                    <a:ea typeface="Microsoft YaHei"/>
                    <a:cs typeface="Arial"/>
                  </a:rPr>
                  <a:t>10%</a:t>
                </a:r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421005" y="3683318"/>
                <a:ext cx="367332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rgbClr val="607484"/>
                    </a:solidFill>
                    <a:latin typeface="Arial"/>
                    <a:ea typeface="Microsoft YaHei"/>
                    <a:cs typeface="Arial"/>
                  </a:rPr>
                  <a:t>20%</a:t>
                </a:r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421005" y="2921318"/>
                <a:ext cx="367332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rgbClr val="607484"/>
                    </a:solidFill>
                    <a:latin typeface="Arial"/>
                    <a:ea typeface="Microsoft YaHei"/>
                    <a:cs typeface="Arial"/>
                  </a:rPr>
                  <a:t>30%</a:t>
                </a:r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421005" y="2159318"/>
                <a:ext cx="367332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rgbClr val="607484"/>
                    </a:solidFill>
                    <a:latin typeface="Arial"/>
                    <a:ea typeface="Microsoft YaHei"/>
                    <a:cs typeface="Arial"/>
                  </a:rPr>
                  <a:t>40%</a:t>
                </a:r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887730" y="5454968"/>
                <a:ext cx="133302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rgbClr val="607484"/>
                    </a:solidFill>
                    <a:latin typeface="Arial"/>
                    <a:ea typeface="Microsoft YaHei"/>
                    <a:cs typeface="Arial"/>
                  </a:rPr>
                  <a:t>1</a:t>
                </a:r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3316605" y="5454968"/>
                <a:ext cx="232315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rgbClr val="607484"/>
                    </a:solidFill>
                    <a:latin typeface="Arial"/>
                    <a:ea typeface="Microsoft YaHei"/>
                    <a:cs typeface="Arial"/>
                  </a:rPr>
                  <a:t>20</a:t>
                </a:r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5916930" y="5454968"/>
                <a:ext cx="232315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rgbClr val="607484"/>
                    </a:solidFill>
                    <a:latin typeface="Arial"/>
                    <a:ea typeface="Microsoft YaHei"/>
                    <a:cs typeface="Arial"/>
                  </a:rPr>
                  <a:t>40</a:t>
                </a:r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8745855" y="5454968"/>
                <a:ext cx="232315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rgbClr val="607484"/>
                    </a:solidFill>
                    <a:latin typeface="Arial"/>
                    <a:ea typeface="Microsoft YaHei"/>
                    <a:cs typeface="Arial"/>
                  </a:rPr>
                  <a:t>62</a:t>
                </a:r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10460355" y="5454968"/>
                <a:ext cx="772382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rgbClr val="607484"/>
                    </a:solidFill>
                    <a:latin typeface="Arial"/>
                    <a:ea typeface="Microsoft YaHei"/>
                    <a:cs typeface="Arial"/>
                  </a:rPr>
                  <a:t>78（组）</a:t>
                </a:r>
              </a:p>
            </p:txBody>
          </p:sp>
        </p:grpSp>
      </p:grpSp>
      <p:grpSp>
        <p:nvGrpSpPr>
          <p:cNvPr id="29" name="Group 29"/>
          <p:cNvGrpSpPr/>
          <p:nvPr/>
        </p:nvGrpSpPr>
        <p:grpSpPr>
          <a:xfrm>
            <a:off x="952500" y="2238375"/>
            <a:ext cx="10001250" cy="3048000"/>
            <a:chOff x="952500" y="2238375"/>
            <a:chExt cx="10001250" cy="3048000"/>
          </a:xfrm>
        </p:grpSpPr>
        <p:sp>
          <p:nvSpPr>
            <p:cNvPr id="24" name="Rectangle 24"/>
            <p:cNvSpPr/>
            <p:nvPr/>
          </p:nvSpPr>
          <p:spPr>
            <a:xfrm>
              <a:off x="8940546" y="2238375"/>
              <a:ext cx="2013204" cy="3048000"/>
            </a:xfrm>
            <a:prstGeom prst="rect">
              <a:avLst/>
            </a:prstGeom>
            <a:solidFill>
              <a:srgbClr val="1B9E9A">
                <a:alpha val="9000"/>
              </a:srgbClr>
            </a:solidFill>
            <a:ln>
              <a:noFill/>
            </a:ln>
          </p:spPr>
        </p:sp>
        <p:sp>
          <p:nvSpPr>
            <p:cNvPr id="25" name="Line 25"/>
            <p:cNvSpPr/>
            <p:nvPr/>
          </p:nvSpPr>
          <p:spPr>
            <a:xfrm>
              <a:off x="8940546" y="2238375"/>
              <a:ext cx="9525" cy="3048000"/>
            </a:xfrm>
            <a:custGeom>
              <a:avLst/>
              <a:gdLst/>
              <a:ahLst/>
              <a:cxnLst/>
              <a:rect l="l" t="t" r="r" b="b"/>
              <a:pathLst>
                <a:path w="9525" h="3048000">
                  <a:moveTo>
                    <a:pt x="0" y="0"/>
                  </a:moveTo>
                  <a:lnTo>
                    <a:pt x="0" y="3048000"/>
                  </a:lnTo>
                </a:path>
              </a:pathLst>
            </a:custGeom>
            <a:noFill/>
            <a:ln w="9525">
              <a:solidFill>
                <a:srgbClr val="607484"/>
              </a:solidFill>
              <a:custDash>
                <a:ds d="600000" sp="600000"/>
              </a:custDash>
            </a:ln>
          </p:spPr>
        </p:sp>
        <p:sp>
          <p:nvSpPr>
            <p:cNvPr id="26" name="Polyline 26"/>
            <p:cNvSpPr/>
            <p:nvPr/>
          </p:nvSpPr>
          <p:spPr>
            <a:xfrm>
              <a:off x="952500" y="2619375"/>
              <a:ext cx="10001250" cy="2667000"/>
            </a:xfrm>
            <a:custGeom>
              <a:avLst/>
              <a:gdLst/>
              <a:ahLst/>
              <a:cxnLst/>
              <a:rect l="l" t="t" r="r" b="b"/>
              <a:pathLst>
                <a:path w="10001250" h="2667000">
                  <a:moveTo>
                    <a:pt x="0" y="1143000"/>
                  </a:moveTo>
                  <a:lnTo>
                    <a:pt x="129921" y="1905000"/>
                  </a:lnTo>
                  <a:lnTo>
                    <a:pt x="259747" y="0"/>
                  </a:lnTo>
                  <a:lnTo>
                    <a:pt x="389668" y="1905000"/>
                  </a:lnTo>
                  <a:lnTo>
                    <a:pt x="519589" y="1905000"/>
                  </a:lnTo>
                  <a:lnTo>
                    <a:pt x="649415" y="2286000"/>
                  </a:lnTo>
                  <a:lnTo>
                    <a:pt x="779335" y="2286000"/>
                  </a:lnTo>
                  <a:lnTo>
                    <a:pt x="909161" y="1524000"/>
                  </a:lnTo>
                  <a:lnTo>
                    <a:pt x="1039082" y="1905000"/>
                  </a:lnTo>
                  <a:lnTo>
                    <a:pt x="1169003" y="762000"/>
                  </a:lnTo>
                  <a:lnTo>
                    <a:pt x="1298829" y="2286000"/>
                  </a:lnTo>
                  <a:lnTo>
                    <a:pt x="1428750" y="762000"/>
                  </a:lnTo>
                  <a:lnTo>
                    <a:pt x="1558671" y="1143000"/>
                  </a:lnTo>
                  <a:lnTo>
                    <a:pt x="1688497" y="1905000"/>
                  </a:lnTo>
                  <a:lnTo>
                    <a:pt x="1818418" y="1524000"/>
                  </a:lnTo>
                  <a:lnTo>
                    <a:pt x="1948339" y="2667000"/>
                  </a:lnTo>
                  <a:lnTo>
                    <a:pt x="2078164" y="762000"/>
                  </a:lnTo>
                  <a:lnTo>
                    <a:pt x="2208086" y="1905000"/>
                  </a:lnTo>
                  <a:lnTo>
                    <a:pt x="2337911" y="1905000"/>
                  </a:lnTo>
                  <a:lnTo>
                    <a:pt x="2467832" y="2286000"/>
                  </a:lnTo>
                  <a:lnTo>
                    <a:pt x="2597753" y="2286000"/>
                  </a:lnTo>
                  <a:lnTo>
                    <a:pt x="2727579" y="2286000"/>
                  </a:lnTo>
                  <a:lnTo>
                    <a:pt x="2857500" y="1905000"/>
                  </a:lnTo>
                  <a:lnTo>
                    <a:pt x="2987421" y="2667000"/>
                  </a:lnTo>
                  <a:lnTo>
                    <a:pt x="3117247" y="2286000"/>
                  </a:lnTo>
                  <a:lnTo>
                    <a:pt x="3247168" y="1905000"/>
                  </a:lnTo>
                  <a:lnTo>
                    <a:pt x="3377089" y="2667000"/>
                  </a:lnTo>
                  <a:lnTo>
                    <a:pt x="3506914" y="2667000"/>
                  </a:lnTo>
                  <a:lnTo>
                    <a:pt x="3636836" y="2286000"/>
                  </a:lnTo>
                  <a:lnTo>
                    <a:pt x="3766661" y="2286000"/>
                  </a:lnTo>
                  <a:lnTo>
                    <a:pt x="3896582" y="1905000"/>
                  </a:lnTo>
                  <a:lnTo>
                    <a:pt x="4026503" y="2286000"/>
                  </a:lnTo>
                  <a:lnTo>
                    <a:pt x="4156329" y="2667000"/>
                  </a:lnTo>
                  <a:lnTo>
                    <a:pt x="4286250" y="2667000"/>
                  </a:lnTo>
                  <a:lnTo>
                    <a:pt x="4416171" y="2667000"/>
                  </a:lnTo>
                  <a:lnTo>
                    <a:pt x="4545997" y="2286000"/>
                  </a:lnTo>
                  <a:lnTo>
                    <a:pt x="4675918" y="2667000"/>
                  </a:lnTo>
                  <a:lnTo>
                    <a:pt x="4805839" y="2667000"/>
                  </a:lnTo>
                  <a:lnTo>
                    <a:pt x="4935664" y="2667000"/>
                  </a:lnTo>
                  <a:lnTo>
                    <a:pt x="5065586" y="1905000"/>
                  </a:lnTo>
                  <a:lnTo>
                    <a:pt x="5195411" y="2667000"/>
                  </a:lnTo>
                  <a:lnTo>
                    <a:pt x="5325332" y="1905000"/>
                  </a:lnTo>
                  <a:lnTo>
                    <a:pt x="5455253" y="2667000"/>
                  </a:lnTo>
                  <a:lnTo>
                    <a:pt x="5585079" y="2286000"/>
                  </a:lnTo>
                  <a:lnTo>
                    <a:pt x="5715000" y="2667000"/>
                  </a:lnTo>
                  <a:lnTo>
                    <a:pt x="5844921" y="2286000"/>
                  </a:lnTo>
                  <a:lnTo>
                    <a:pt x="5974747" y="1524000"/>
                  </a:lnTo>
                  <a:lnTo>
                    <a:pt x="6104668" y="2667000"/>
                  </a:lnTo>
                  <a:lnTo>
                    <a:pt x="6234589" y="2667000"/>
                  </a:lnTo>
                  <a:lnTo>
                    <a:pt x="6364414" y="2667000"/>
                  </a:lnTo>
                  <a:lnTo>
                    <a:pt x="6494336" y="2667000"/>
                  </a:lnTo>
                  <a:lnTo>
                    <a:pt x="6624161" y="2286000"/>
                  </a:lnTo>
                  <a:lnTo>
                    <a:pt x="6754082" y="2667000"/>
                  </a:lnTo>
                  <a:lnTo>
                    <a:pt x="6884003" y="2286000"/>
                  </a:lnTo>
                  <a:lnTo>
                    <a:pt x="7013829" y="2667000"/>
                  </a:lnTo>
                  <a:lnTo>
                    <a:pt x="7143750" y="2667000"/>
                  </a:lnTo>
                  <a:lnTo>
                    <a:pt x="7273671" y="2667000"/>
                  </a:lnTo>
                  <a:lnTo>
                    <a:pt x="7403497" y="1905000"/>
                  </a:lnTo>
                  <a:lnTo>
                    <a:pt x="7533418" y="2667000"/>
                  </a:lnTo>
                  <a:lnTo>
                    <a:pt x="7663339" y="1905000"/>
                  </a:lnTo>
                  <a:lnTo>
                    <a:pt x="7793164" y="2286000"/>
                  </a:lnTo>
                  <a:lnTo>
                    <a:pt x="7923086" y="1905000"/>
                  </a:lnTo>
                  <a:lnTo>
                    <a:pt x="8052911" y="1524000"/>
                  </a:lnTo>
                  <a:lnTo>
                    <a:pt x="8182832" y="2667000"/>
                  </a:lnTo>
                  <a:lnTo>
                    <a:pt x="8312753" y="2667000"/>
                  </a:lnTo>
                  <a:lnTo>
                    <a:pt x="8442579" y="1905000"/>
                  </a:lnTo>
                  <a:lnTo>
                    <a:pt x="8572500" y="762000"/>
                  </a:lnTo>
                  <a:lnTo>
                    <a:pt x="8702421" y="1905000"/>
                  </a:lnTo>
                  <a:lnTo>
                    <a:pt x="8832247" y="1524000"/>
                  </a:lnTo>
                  <a:lnTo>
                    <a:pt x="8962168" y="2667000"/>
                  </a:lnTo>
                  <a:lnTo>
                    <a:pt x="9092089" y="2286000"/>
                  </a:lnTo>
                  <a:lnTo>
                    <a:pt x="9221914" y="2286000"/>
                  </a:lnTo>
                  <a:lnTo>
                    <a:pt x="9351836" y="2286000"/>
                  </a:lnTo>
                  <a:lnTo>
                    <a:pt x="9481661" y="2667000"/>
                  </a:lnTo>
                  <a:lnTo>
                    <a:pt x="9611582" y="2667000"/>
                  </a:lnTo>
                  <a:lnTo>
                    <a:pt x="9741503" y="2286000"/>
                  </a:lnTo>
                  <a:lnTo>
                    <a:pt x="9871329" y="2667000"/>
                  </a:lnTo>
                  <a:lnTo>
                    <a:pt x="10001250" y="2667000"/>
                  </a:lnTo>
                </a:path>
              </a:pathLst>
            </a:custGeom>
            <a:noFill/>
            <a:ln w="28575">
              <a:solidFill>
                <a:srgbClr val="1B9E9A"/>
              </a:solidFill>
            </a:ln>
          </p:spPr>
        </p:sp>
        <p:sp>
          <p:nvSpPr>
            <p:cNvPr id="27" name="Ellipse 27"/>
            <p:cNvSpPr/>
            <p:nvPr/>
          </p:nvSpPr>
          <p:spPr>
            <a:xfrm>
              <a:off x="1155097" y="2562225"/>
              <a:ext cx="114300" cy="114300"/>
            </a:xfrm>
            <a:prstGeom prst="ellipse">
              <a:avLst/>
            </a:prstGeom>
            <a:solidFill>
              <a:srgbClr val="EB7954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1415415" y="2386965"/>
              <a:ext cx="489776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EB7954"/>
                  </a:solidFill>
                  <a:latin typeface="Arial"/>
                  <a:ea typeface="Microsoft YaHei"/>
                  <a:cs typeface="Arial"/>
                </a:rPr>
                <a:t>35%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4173855" y="5874068"/>
            <a:ext cx="6085427" cy="274320"/>
            <a:chOff x="4173855" y="5874068"/>
            <a:chExt cx="6085427" cy="274320"/>
          </a:xfrm>
        </p:grpSpPr>
        <p:sp>
          <p:nvSpPr>
            <p:cNvPr id="30" name="TextBox 30"/>
            <p:cNvSpPr txBox="1"/>
            <p:nvPr/>
          </p:nvSpPr>
          <p:spPr>
            <a:xfrm>
              <a:off x="4173855" y="5874068"/>
              <a:ext cx="1132427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607484"/>
                  </a:solidFill>
                  <a:latin typeface="Arial"/>
                  <a:ea typeface="Microsoft YaHei"/>
                  <a:cs typeface="Arial"/>
                </a:rPr>
                <a:t>前62组：训练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9126855" y="5874068"/>
              <a:ext cx="1132427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B9E9A"/>
                  </a:solidFill>
                  <a:latin typeface="Arial"/>
                  <a:ea typeface="Microsoft YaHei"/>
                  <a:cs typeface="Arial"/>
                </a:rPr>
                <a:t>后16组：检验</a:t>
              </a:r>
            </a:p>
          </p:txBody>
        </p:sp>
      </p:grpSp>
      <p:sp>
        <p:nvSpPr>
          <p:cNvPr id="33" name="TextBox 33"/>
          <p:cNvSpPr txBox="1"/>
          <p:nvPr/>
        </p:nvSpPr>
        <p:spPr>
          <a:xfrm>
            <a:off x="558165" y="6363652"/>
            <a:ext cx="5046297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07484"/>
                </a:solidFill>
                <a:latin typeface="Arial"/>
                <a:ea typeface="Microsoft YaHei"/>
                <a:cs typeface="Arial"/>
              </a:rPr>
              <a:t>来源：UCI SECOM，本次分组计算。横轴为检测顺序分析组，不是等距日历时间。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11226165" y="6363652"/>
            <a:ext cx="495729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07484"/>
                </a:solidFill>
                <a:latin typeface="Arial"/>
                <a:ea typeface="Microsoft YaHei"/>
                <a:cs typeface="Arial"/>
              </a:rPr>
              <a:t>05 / 09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5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23" grpId="0"/>
      <p:bldP spid="29" grpId="0"/>
      <p:bldP spid="3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2F6F7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533400" y="501968"/>
            <a:ext cx="6376988" cy="1422082"/>
            <a:chOff x="533400" y="501968"/>
            <a:chExt cx="6376988" cy="1422082"/>
          </a:xfrm>
        </p:grpSpPr>
        <p:sp>
          <p:nvSpPr>
            <p:cNvPr id="3" name="TextBox 3"/>
            <p:cNvSpPr txBox="1"/>
            <p:nvPr/>
          </p:nvSpPr>
          <p:spPr>
            <a:xfrm>
              <a:off x="554355" y="501968"/>
              <a:ext cx="75438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B9E9A"/>
                  </a:solidFill>
                  <a:latin typeface="Arial"/>
                  <a:ea typeface="Microsoft YaHei"/>
                  <a:cs typeface="Arial"/>
                </a:rPr>
                <a:t>分析方法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33400" y="952500"/>
              <a:ext cx="6376988" cy="609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rgbClr val="0B2233"/>
                  </a:solidFill>
                  <a:latin typeface="Arial"/>
                  <a:ea typeface="Microsoft YaHei"/>
                  <a:cs typeface="Arial"/>
                </a:rPr>
                <a:t>让模型只看到过去，再预测下一组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567690" y="1558290"/>
              <a:ext cx="4366260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607484"/>
                  </a:solidFill>
                  <a:latin typeface="Arial"/>
                  <a:ea typeface="Microsoft YaHei"/>
                  <a:cs typeface="Arial"/>
                </a:rPr>
                <a:t>用真实的后续记录，检验预测是否有用。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619125" y="2343150"/>
            <a:ext cx="10906125" cy="1104900"/>
            <a:chOff x="619125" y="2343150"/>
            <a:chExt cx="10906125" cy="1104900"/>
          </a:xfrm>
        </p:grpSpPr>
        <p:sp>
          <p:nvSpPr>
            <p:cNvPr id="7" name="Rectangle 7"/>
            <p:cNvSpPr/>
            <p:nvPr/>
          </p:nvSpPr>
          <p:spPr>
            <a:xfrm>
              <a:off x="619125" y="2343150"/>
              <a:ext cx="8620125" cy="1104900"/>
            </a:xfrm>
            <a:prstGeom prst="rect">
              <a:avLst/>
            </a:prstGeom>
            <a:solidFill>
              <a:srgbClr val="0B2233"/>
            </a:solidFill>
            <a:ln>
              <a:noFill/>
            </a:ln>
          </p:spPr>
        </p:sp>
        <p:sp>
          <p:nvSpPr>
            <p:cNvPr id="8" name="Rectangle 8"/>
            <p:cNvSpPr/>
            <p:nvPr/>
          </p:nvSpPr>
          <p:spPr>
            <a:xfrm>
              <a:off x="9305925" y="2343150"/>
              <a:ext cx="2219325" cy="1104900"/>
            </a:xfrm>
            <a:prstGeom prst="rect">
              <a:avLst/>
            </a:prstGeom>
            <a:solidFill>
              <a:srgbClr val="1B9E9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914400" y="2686050"/>
              <a:ext cx="916305" cy="609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62组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2406015" y="2796540"/>
              <a:ext cx="1725930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训练与选择模型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9544050" y="2557462"/>
              <a:ext cx="687229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16组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9549765" y="2996565"/>
              <a:ext cx="1005840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滚动检验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590550" y="3910012"/>
            <a:ext cx="2271713" cy="1690688"/>
            <a:chOff x="590550" y="3910012"/>
            <a:chExt cx="2271713" cy="1690688"/>
          </a:xfrm>
        </p:grpSpPr>
        <p:sp>
          <p:nvSpPr>
            <p:cNvPr id="14" name="TextBox 14"/>
            <p:cNvSpPr txBox="1"/>
            <p:nvPr/>
          </p:nvSpPr>
          <p:spPr>
            <a:xfrm>
              <a:off x="590550" y="3910012"/>
              <a:ext cx="387191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dirty="0">
                  <a:solidFill>
                    <a:srgbClr val="1B9E9A"/>
                  </a:solidFill>
                  <a:latin typeface="Arial"/>
                  <a:ea typeface="Microsoft YaHei"/>
                  <a:cs typeface="Arial"/>
                </a:rPr>
                <a:t>01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590550" y="4348162"/>
              <a:ext cx="1857375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dirty="0">
                  <a:solidFill>
                    <a:srgbClr val="0B2233"/>
                  </a:solidFill>
                  <a:latin typeface="Arial"/>
                  <a:ea typeface="Microsoft YaHei"/>
                  <a:cs typeface="Arial"/>
                </a:rPr>
                <a:t>处理比例数据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596265" y="4853940"/>
              <a:ext cx="2265998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607484"/>
                  </a:solidFill>
                  <a:latin typeface="Arial"/>
                  <a:ea typeface="Microsoft YaHei"/>
                  <a:cs typeface="Arial"/>
                </a:rPr>
                <a:t>平滑后进行logit变换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596265" y="5234940"/>
              <a:ext cx="2205990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607484"/>
                  </a:solidFill>
                  <a:latin typeface="Arial"/>
                  <a:ea typeface="Microsoft YaHei"/>
                  <a:cs typeface="Arial"/>
                </a:rPr>
                <a:t>再建立时间序列模型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4400550" y="3910012"/>
            <a:ext cx="2622471" cy="1690688"/>
            <a:chOff x="4400550" y="3910012"/>
            <a:chExt cx="2622471" cy="1690688"/>
          </a:xfrm>
        </p:grpSpPr>
        <p:sp>
          <p:nvSpPr>
            <p:cNvPr id="19" name="TextBox 19"/>
            <p:cNvSpPr txBox="1"/>
            <p:nvPr/>
          </p:nvSpPr>
          <p:spPr>
            <a:xfrm>
              <a:off x="4400550" y="3910012"/>
              <a:ext cx="387191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dirty="0">
                  <a:solidFill>
                    <a:srgbClr val="1B9E9A"/>
                  </a:solidFill>
                  <a:latin typeface="Arial"/>
                  <a:ea typeface="Microsoft YaHei"/>
                  <a:cs typeface="Arial"/>
                </a:rPr>
                <a:t>02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4400550" y="4348162"/>
              <a:ext cx="2622471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dirty="0">
                  <a:solidFill>
                    <a:srgbClr val="0B2233"/>
                  </a:solidFill>
                  <a:latin typeface="Arial"/>
                  <a:ea typeface="Microsoft YaHei"/>
                  <a:cs typeface="Arial"/>
                </a:rPr>
                <a:t>选择ARIMA(0,1,1)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4406265" y="4853940"/>
              <a:ext cx="2446020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607484"/>
                  </a:solidFill>
                  <a:latin typeface="Arial"/>
                  <a:ea typeface="Microsoft YaHei"/>
                  <a:cs typeface="Arial"/>
                </a:rPr>
                <a:t>在训练组比较低阶模型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4406265" y="5234940"/>
              <a:ext cx="2434018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607484"/>
                  </a:solidFill>
                  <a:latin typeface="Arial"/>
                  <a:ea typeface="Microsoft YaHei"/>
                  <a:cs typeface="Arial"/>
                </a:rPr>
                <a:t>按AICc与收敛情况选择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8210550" y="3910012"/>
            <a:ext cx="2211705" cy="1690688"/>
            <a:chOff x="8210550" y="3910012"/>
            <a:chExt cx="2211705" cy="1690688"/>
          </a:xfrm>
        </p:grpSpPr>
        <p:sp>
          <p:nvSpPr>
            <p:cNvPr id="24" name="TextBox 24"/>
            <p:cNvSpPr txBox="1"/>
            <p:nvPr/>
          </p:nvSpPr>
          <p:spPr>
            <a:xfrm>
              <a:off x="8210550" y="3910012"/>
              <a:ext cx="387191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dirty="0">
                  <a:solidFill>
                    <a:srgbClr val="1B9E9A"/>
                  </a:solidFill>
                  <a:latin typeface="Arial"/>
                  <a:ea typeface="Microsoft YaHei"/>
                  <a:cs typeface="Arial"/>
                </a:rPr>
                <a:t>03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8210550" y="4348162"/>
              <a:ext cx="1857375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dirty="0">
                  <a:solidFill>
                    <a:srgbClr val="0B2233"/>
                  </a:solidFill>
                  <a:latin typeface="Arial"/>
                  <a:ea typeface="Microsoft YaHei"/>
                  <a:cs typeface="Arial"/>
                </a:rPr>
                <a:t>逐组预测一步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8216265" y="4853940"/>
              <a:ext cx="2205990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607484"/>
                  </a:solidFill>
                  <a:latin typeface="Arial"/>
                  <a:ea typeface="Microsoft YaHei"/>
                  <a:cs typeface="Arial"/>
                </a:rPr>
                <a:t>固定阶数，更新历史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8216265" y="5234940"/>
              <a:ext cx="1965960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607484"/>
                  </a:solidFill>
                  <a:latin typeface="Arial"/>
                  <a:ea typeface="Microsoft YaHei"/>
                  <a:cs typeface="Arial"/>
                </a:rPr>
                <a:t>与两种平均法比较</a:t>
              </a:r>
            </a:p>
          </p:txBody>
        </p:sp>
      </p:grpSp>
      <p:sp>
        <p:nvSpPr>
          <p:cNvPr id="29" name="TextBox 29"/>
          <p:cNvSpPr txBox="1"/>
          <p:nvPr/>
        </p:nvSpPr>
        <p:spPr>
          <a:xfrm>
            <a:off x="558165" y="6363652"/>
            <a:ext cx="458424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07484"/>
                </a:solidFill>
                <a:latin typeface="Arial"/>
                <a:ea typeface="Microsoft YaHei"/>
                <a:cs typeface="Arial"/>
              </a:rPr>
              <a:t>对照：历史累计平均、前5组平均。三种方法均使用预测时已获得的记录。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1226165" y="6363652"/>
            <a:ext cx="495729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07484"/>
                </a:solidFill>
                <a:latin typeface="Arial"/>
                <a:ea typeface="Microsoft YaHei"/>
                <a:cs typeface="Arial"/>
              </a:rPr>
              <a:t>06 / 09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5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13" grpId="0"/>
      <p:bldP spid="18" grpId="0"/>
      <p:bldP spid="23" grpId="0"/>
      <p:bldP spid="28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533400" y="501968"/>
            <a:ext cx="6839045" cy="1422082"/>
            <a:chOff x="533400" y="501968"/>
            <a:chExt cx="6839045" cy="1422082"/>
          </a:xfrm>
        </p:grpSpPr>
        <p:sp>
          <p:nvSpPr>
            <p:cNvPr id="3" name="TextBox 3"/>
            <p:cNvSpPr txBox="1"/>
            <p:nvPr/>
          </p:nvSpPr>
          <p:spPr>
            <a:xfrm>
              <a:off x="554355" y="501968"/>
              <a:ext cx="2221563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B9E9A"/>
                  </a:solidFill>
                  <a:latin typeface="Arial"/>
                  <a:ea typeface="Microsoft YaHei"/>
                  <a:cs typeface="Arial"/>
                </a:rPr>
                <a:t>滚动预测 · 网页可逐组揭示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33400" y="952500"/>
              <a:ext cx="6839045" cy="609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rgbClr val="0B2233"/>
                  </a:solidFill>
                  <a:latin typeface="Arial"/>
                  <a:ea typeface="Microsoft YaHei"/>
                  <a:cs typeface="Arial"/>
                </a:rPr>
                <a:t>第67组的突然上升，模型没有预测到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567690" y="1558290"/>
              <a:ext cx="4126230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607484"/>
                  </a:solidFill>
                  <a:latin typeface="Arial"/>
                  <a:ea typeface="Microsoft YaHei"/>
                  <a:cs typeface="Arial"/>
                </a:rPr>
                <a:t>先给出预测，再与真实检测结果比较。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382905" y="2349818"/>
            <a:ext cx="7611332" cy="3379470"/>
            <a:chOff x="382905" y="2349818"/>
            <a:chExt cx="7611332" cy="3379470"/>
          </a:xfrm>
        </p:grpSpPr>
        <p:sp>
          <p:nvSpPr>
            <p:cNvPr id="7" name="Line 7"/>
            <p:cNvSpPr/>
            <p:nvPr/>
          </p:nvSpPr>
          <p:spPr>
            <a:xfrm>
              <a:off x="952500" y="5286375"/>
              <a:ext cx="6858000" cy="9525"/>
            </a:xfrm>
            <a:custGeom>
              <a:avLst/>
              <a:gdLst/>
              <a:ahLst/>
              <a:cxnLst/>
              <a:rect l="l" t="t" r="r" b="b"/>
              <a:pathLst>
                <a:path w="6858000" h="9525">
                  <a:moveTo>
                    <a:pt x="0" y="0"/>
                  </a:moveTo>
                  <a:lnTo>
                    <a:pt x="6858000" y="0"/>
                  </a:lnTo>
                </a:path>
              </a:pathLst>
            </a:custGeom>
            <a:noFill/>
            <a:ln w="9525">
              <a:solidFill>
                <a:srgbClr val="D7E2E7"/>
              </a:solidFill>
            </a:ln>
          </p:spPr>
        </p:sp>
        <p:sp>
          <p:nvSpPr>
            <p:cNvPr id="8" name="Line 8"/>
            <p:cNvSpPr/>
            <p:nvPr/>
          </p:nvSpPr>
          <p:spPr>
            <a:xfrm>
              <a:off x="952500" y="4333875"/>
              <a:ext cx="6858000" cy="9525"/>
            </a:xfrm>
            <a:custGeom>
              <a:avLst/>
              <a:gdLst/>
              <a:ahLst/>
              <a:cxnLst/>
              <a:rect l="l" t="t" r="r" b="b"/>
              <a:pathLst>
                <a:path w="6858000" h="9525">
                  <a:moveTo>
                    <a:pt x="0" y="0"/>
                  </a:moveTo>
                  <a:lnTo>
                    <a:pt x="6858000" y="0"/>
                  </a:lnTo>
                </a:path>
              </a:pathLst>
            </a:custGeom>
            <a:noFill/>
            <a:ln w="9525">
              <a:solidFill>
                <a:srgbClr val="D7E2E7"/>
              </a:solidFill>
            </a:ln>
          </p:spPr>
        </p:sp>
        <p:sp>
          <p:nvSpPr>
            <p:cNvPr id="9" name="Line 9"/>
            <p:cNvSpPr/>
            <p:nvPr/>
          </p:nvSpPr>
          <p:spPr>
            <a:xfrm>
              <a:off x="952500" y="3381375"/>
              <a:ext cx="6858000" cy="9525"/>
            </a:xfrm>
            <a:custGeom>
              <a:avLst/>
              <a:gdLst/>
              <a:ahLst/>
              <a:cxnLst/>
              <a:rect l="l" t="t" r="r" b="b"/>
              <a:pathLst>
                <a:path w="6858000" h="9525">
                  <a:moveTo>
                    <a:pt x="0" y="0"/>
                  </a:moveTo>
                  <a:lnTo>
                    <a:pt x="6858000" y="0"/>
                  </a:lnTo>
                </a:path>
              </a:pathLst>
            </a:custGeom>
            <a:noFill/>
            <a:ln w="9525">
              <a:solidFill>
                <a:srgbClr val="D7E2E7"/>
              </a:solidFill>
            </a:ln>
          </p:spPr>
        </p:sp>
        <p:sp>
          <p:nvSpPr>
            <p:cNvPr id="10" name="Line 10"/>
            <p:cNvSpPr/>
            <p:nvPr/>
          </p:nvSpPr>
          <p:spPr>
            <a:xfrm>
              <a:off x="952500" y="2428875"/>
              <a:ext cx="6858000" cy="9525"/>
            </a:xfrm>
            <a:custGeom>
              <a:avLst/>
              <a:gdLst/>
              <a:ahLst/>
              <a:cxnLst/>
              <a:rect l="l" t="t" r="r" b="b"/>
              <a:pathLst>
                <a:path w="6858000" h="9525">
                  <a:moveTo>
                    <a:pt x="0" y="0"/>
                  </a:moveTo>
                  <a:lnTo>
                    <a:pt x="6858000" y="0"/>
                  </a:lnTo>
                </a:path>
              </a:pathLst>
            </a:custGeom>
            <a:noFill/>
            <a:ln w="9525">
              <a:solidFill>
                <a:srgbClr val="D7E2E7"/>
              </a:solidFill>
            </a:ln>
          </p:spPr>
        </p:sp>
        <p:grpSp>
          <p:nvGrpSpPr>
            <p:cNvPr id="19" name="Group 19"/>
            <p:cNvGrpSpPr/>
            <p:nvPr/>
          </p:nvGrpSpPr>
          <p:grpSpPr>
            <a:xfrm>
              <a:off x="382905" y="2349818"/>
              <a:ext cx="7611332" cy="3379470"/>
              <a:chOff x="382905" y="2349818"/>
              <a:chExt cx="7611332" cy="3379470"/>
            </a:xfrm>
          </p:grpSpPr>
          <p:sp>
            <p:nvSpPr>
              <p:cNvPr id="11" name="TextBox 11"/>
              <p:cNvSpPr txBox="1"/>
              <p:nvPr/>
            </p:nvSpPr>
            <p:spPr>
              <a:xfrm>
                <a:off x="497205" y="5207318"/>
                <a:ext cx="268319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rgbClr val="607484"/>
                    </a:solidFill>
                    <a:latin typeface="Arial"/>
                    <a:ea typeface="Microsoft YaHei"/>
                    <a:cs typeface="Arial"/>
                  </a:rPr>
                  <a:t>0%</a:t>
                </a:r>
              </a:p>
            </p:txBody>
          </p:sp>
          <p:sp>
            <p:nvSpPr>
              <p:cNvPr id="12" name="TextBox 12"/>
              <p:cNvSpPr txBox="1"/>
              <p:nvPr/>
            </p:nvSpPr>
            <p:spPr>
              <a:xfrm>
                <a:off x="382905" y="4254818"/>
                <a:ext cx="367332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rgbClr val="607484"/>
                    </a:solidFill>
                    <a:latin typeface="Arial"/>
                    <a:ea typeface="Microsoft YaHei"/>
                    <a:cs typeface="Arial"/>
                  </a:rPr>
                  <a:t>10%</a:t>
                </a:r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382905" y="3302318"/>
                <a:ext cx="367332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rgbClr val="607484"/>
                    </a:solidFill>
                    <a:latin typeface="Arial"/>
                    <a:ea typeface="Microsoft YaHei"/>
                    <a:cs typeface="Arial"/>
                  </a:rPr>
                  <a:t>20%</a:t>
                </a:r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382905" y="2349818"/>
                <a:ext cx="367332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rgbClr val="607484"/>
                    </a:solidFill>
                    <a:latin typeface="Arial"/>
                    <a:ea typeface="Microsoft YaHei"/>
                    <a:cs typeface="Arial"/>
                  </a:rPr>
                  <a:t>30%</a:t>
                </a:r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840105" y="5454968"/>
                <a:ext cx="232315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rgbClr val="607484"/>
                    </a:solidFill>
                    <a:latin typeface="Arial"/>
                    <a:ea typeface="Microsoft YaHei"/>
                    <a:cs typeface="Arial"/>
                  </a:rPr>
                  <a:t>63</a:t>
                </a:r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2649855" y="5454968"/>
                <a:ext cx="232315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rgbClr val="607484"/>
                    </a:solidFill>
                    <a:latin typeface="Arial"/>
                    <a:ea typeface="Microsoft YaHei"/>
                    <a:cs typeface="Arial"/>
                  </a:rPr>
                  <a:t>67</a:t>
                </a:r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4935855" y="5454968"/>
                <a:ext cx="232315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rgbClr val="607484"/>
                    </a:solidFill>
                    <a:latin typeface="Arial"/>
                    <a:ea typeface="Microsoft YaHei"/>
                    <a:cs typeface="Arial"/>
                  </a:rPr>
                  <a:t>72</a:t>
                </a:r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7221855" y="5454968"/>
                <a:ext cx="772382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rgbClr val="607484"/>
                    </a:solidFill>
                    <a:latin typeface="Arial"/>
                    <a:ea typeface="Microsoft YaHei"/>
                    <a:cs typeface="Arial"/>
                  </a:rPr>
                  <a:t>78（组）</a:t>
                </a:r>
              </a:p>
            </p:txBody>
          </p:sp>
        </p:grpSp>
      </p:grpSp>
      <p:grpSp>
        <p:nvGrpSpPr>
          <p:cNvPr id="24" name="Group 24"/>
          <p:cNvGrpSpPr/>
          <p:nvPr/>
        </p:nvGrpSpPr>
        <p:grpSpPr>
          <a:xfrm>
            <a:off x="952500" y="4527423"/>
            <a:ext cx="6858000" cy="1630489"/>
            <a:chOff x="952500" y="4527423"/>
            <a:chExt cx="6858000" cy="1630489"/>
          </a:xfrm>
        </p:grpSpPr>
        <p:sp>
          <p:nvSpPr>
            <p:cNvPr id="21" name="Polyline 21"/>
            <p:cNvSpPr/>
            <p:nvPr/>
          </p:nvSpPr>
          <p:spPr>
            <a:xfrm>
              <a:off x="952500" y="4527423"/>
              <a:ext cx="6858000" cy="522351"/>
            </a:xfrm>
            <a:custGeom>
              <a:avLst/>
              <a:gdLst/>
              <a:ahLst/>
              <a:cxnLst/>
              <a:rect l="l" t="t" r="r" b="b"/>
              <a:pathLst>
                <a:path w="6858000" h="522351">
                  <a:moveTo>
                    <a:pt x="0" y="410813"/>
                  </a:moveTo>
                  <a:lnTo>
                    <a:pt x="457200" y="253270"/>
                  </a:lnTo>
                  <a:lnTo>
                    <a:pt x="914400" y="411861"/>
                  </a:lnTo>
                  <a:lnTo>
                    <a:pt x="1371600" y="495109"/>
                  </a:lnTo>
                  <a:lnTo>
                    <a:pt x="1828800" y="414909"/>
                  </a:lnTo>
                  <a:lnTo>
                    <a:pt x="2286000" y="214408"/>
                  </a:lnTo>
                  <a:lnTo>
                    <a:pt x="2743200" y="140589"/>
                  </a:lnTo>
                  <a:lnTo>
                    <a:pt x="3200400" y="0"/>
                  </a:lnTo>
                  <a:lnTo>
                    <a:pt x="3657600" y="246317"/>
                  </a:lnTo>
                  <a:lnTo>
                    <a:pt x="4114800" y="252889"/>
                  </a:lnTo>
                  <a:lnTo>
                    <a:pt x="4572000" y="258128"/>
                  </a:lnTo>
                  <a:lnTo>
                    <a:pt x="5029200" y="262509"/>
                  </a:lnTo>
                  <a:lnTo>
                    <a:pt x="5486400" y="387096"/>
                  </a:lnTo>
                  <a:lnTo>
                    <a:pt x="5943600" y="478155"/>
                  </a:lnTo>
                  <a:lnTo>
                    <a:pt x="6400800" y="446913"/>
                  </a:lnTo>
                  <a:lnTo>
                    <a:pt x="6858000" y="522351"/>
                  </a:lnTo>
                </a:path>
              </a:pathLst>
            </a:custGeom>
            <a:noFill/>
            <a:ln w="38100">
              <a:solidFill>
                <a:srgbClr val="1B9E9A"/>
              </a:solidFill>
            </a:ln>
          </p:spPr>
        </p:sp>
        <p:sp>
          <p:nvSpPr>
            <p:cNvPr id="22" name="Line 22"/>
            <p:cNvSpPr/>
            <p:nvPr/>
          </p:nvSpPr>
          <p:spPr>
            <a:xfrm>
              <a:off x="952500" y="5962650"/>
              <a:ext cx="361950" cy="9525"/>
            </a:xfrm>
            <a:custGeom>
              <a:avLst/>
              <a:gdLst/>
              <a:ahLst/>
              <a:cxnLst/>
              <a:rect l="l" t="t" r="r" b="b"/>
              <a:pathLst>
                <a:path w="361950" h="9525">
                  <a:moveTo>
                    <a:pt x="0" y="0"/>
                  </a:moveTo>
                  <a:lnTo>
                    <a:pt x="361950" y="0"/>
                  </a:lnTo>
                </a:path>
              </a:pathLst>
            </a:custGeom>
            <a:noFill/>
            <a:ln w="38100">
              <a:solidFill>
                <a:srgbClr val="1B9E9A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1411605" y="5883592"/>
              <a:ext cx="880396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607484"/>
                  </a:solidFill>
                  <a:latin typeface="Arial"/>
                  <a:ea typeface="Microsoft YaHei"/>
                  <a:cs typeface="Arial"/>
                </a:rPr>
                <a:t>ARIMA预测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952500" y="2838450"/>
            <a:ext cx="6858000" cy="3319462"/>
            <a:chOff x="952500" y="2838450"/>
            <a:chExt cx="6858000" cy="3319462"/>
          </a:xfrm>
        </p:grpSpPr>
        <p:sp>
          <p:nvSpPr>
            <p:cNvPr id="25" name="Polyline 25"/>
            <p:cNvSpPr/>
            <p:nvPr/>
          </p:nvSpPr>
          <p:spPr>
            <a:xfrm>
              <a:off x="952500" y="2905125"/>
              <a:ext cx="6858000" cy="2381250"/>
            </a:xfrm>
            <a:custGeom>
              <a:avLst/>
              <a:gdLst/>
              <a:ahLst/>
              <a:cxnLst/>
              <a:rect l="l" t="t" r="r" b="b"/>
              <a:pathLst>
                <a:path w="6858000" h="2381250">
                  <a:moveTo>
                    <a:pt x="0" y="952500"/>
                  </a:moveTo>
                  <a:lnTo>
                    <a:pt x="457200" y="2381250"/>
                  </a:lnTo>
                  <a:lnTo>
                    <a:pt x="914400" y="2381250"/>
                  </a:lnTo>
                  <a:lnTo>
                    <a:pt x="1371600" y="1428750"/>
                  </a:lnTo>
                  <a:lnTo>
                    <a:pt x="1828800" y="0"/>
                  </a:lnTo>
                  <a:lnTo>
                    <a:pt x="2286000" y="1428750"/>
                  </a:lnTo>
                  <a:lnTo>
                    <a:pt x="2743200" y="952500"/>
                  </a:lnTo>
                  <a:lnTo>
                    <a:pt x="3200400" y="2381250"/>
                  </a:lnTo>
                  <a:lnTo>
                    <a:pt x="3657600" y="1905000"/>
                  </a:lnTo>
                  <a:lnTo>
                    <a:pt x="4114800" y="1905000"/>
                  </a:lnTo>
                  <a:lnTo>
                    <a:pt x="4572000" y="1905000"/>
                  </a:lnTo>
                  <a:lnTo>
                    <a:pt x="5029200" y="2381250"/>
                  </a:lnTo>
                  <a:lnTo>
                    <a:pt x="5486400" y="2381250"/>
                  </a:lnTo>
                  <a:lnTo>
                    <a:pt x="5943600" y="1905000"/>
                  </a:lnTo>
                  <a:lnTo>
                    <a:pt x="6400800" y="2381250"/>
                  </a:lnTo>
                  <a:lnTo>
                    <a:pt x="6858000" y="2381250"/>
                  </a:lnTo>
                </a:path>
              </a:pathLst>
            </a:custGeom>
            <a:noFill/>
            <a:ln w="28575">
              <a:solidFill>
                <a:srgbClr val="0B2233"/>
              </a:solidFill>
            </a:ln>
          </p:spPr>
        </p:sp>
        <p:sp>
          <p:nvSpPr>
            <p:cNvPr id="26" name="Ellipse 26"/>
            <p:cNvSpPr/>
            <p:nvPr/>
          </p:nvSpPr>
          <p:spPr>
            <a:xfrm>
              <a:off x="2714625" y="2838450"/>
              <a:ext cx="133350" cy="133350"/>
            </a:xfrm>
            <a:prstGeom prst="ellipse">
              <a:avLst/>
            </a:prstGeom>
            <a:solidFill>
              <a:srgbClr val="EB7954"/>
            </a:solidFill>
            <a:ln>
              <a:noFill/>
            </a:ln>
          </p:spPr>
        </p:sp>
        <p:sp>
          <p:nvSpPr>
            <p:cNvPr id="27" name="Line 27"/>
            <p:cNvSpPr/>
            <p:nvPr/>
          </p:nvSpPr>
          <p:spPr>
            <a:xfrm>
              <a:off x="3048000" y="5962650"/>
              <a:ext cx="361950" cy="9525"/>
            </a:xfrm>
            <a:custGeom>
              <a:avLst/>
              <a:gdLst/>
              <a:ahLst/>
              <a:cxnLst/>
              <a:rect l="l" t="t" r="r" b="b"/>
              <a:pathLst>
                <a:path w="361950" h="9525">
                  <a:moveTo>
                    <a:pt x="0" y="0"/>
                  </a:moveTo>
                  <a:lnTo>
                    <a:pt x="361950" y="0"/>
                  </a:lnTo>
                </a:path>
              </a:pathLst>
            </a:custGeom>
            <a:noFill/>
            <a:ln w="28575">
              <a:solidFill>
                <a:srgbClr val="0B2233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3507105" y="5883592"/>
              <a:ext cx="75438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607484"/>
                  </a:solidFill>
                  <a:latin typeface="Arial"/>
                  <a:ea typeface="Microsoft YaHei"/>
                  <a:cs typeface="Arial"/>
                </a:rPr>
                <a:t>真实结果</a:t>
              </a: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8477250" y="2333625"/>
            <a:ext cx="2756154" cy="3619500"/>
            <a:chOff x="8477250" y="2333625"/>
            <a:chExt cx="2756154" cy="3619500"/>
          </a:xfrm>
        </p:grpSpPr>
        <p:sp>
          <p:nvSpPr>
            <p:cNvPr id="30" name="Line 30"/>
            <p:cNvSpPr/>
            <p:nvPr/>
          </p:nvSpPr>
          <p:spPr>
            <a:xfrm>
              <a:off x="8477250" y="2333625"/>
              <a:ext cx="9525" cy="3619500"/>
            </a:xfrm>
            <a:custGeom>
              <a:avLst/>
              <a:gdLst/>
              <a:ahLst/>
              <a:cxnLst/>
              <a:rect l="l" t="t" r="r" b="b"/>
              <a:pathLst>
                <a:path w="9525" h="3619500">
                  <a:moveTo>
                    <a:pt x="0" y="0"/>
                  </a:moveTo>
                  <a:lnTo>
                    <a:pt x="0" y="3619500"/>
                  </a:lnTo>
                </a:path>
              </a:pathLst>
            </a:custGeom>
            <a:noFill/>
            <a:ln w="9525">
              <a:solidFill>
                <a:srgbClr val="D7E2E7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8835390" y="2425065"/>
              <a:ext cx="789813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607484"/>
                  </a:solidFill>
                  <a:latin typeface="Arial"/>
                  <a:ea typeface="Microsoft YaHei"/>
                  <a:cs typeface="Arial"/>
                </a:rPr>
                <a:t>第67组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8801100" y="2838450"/>
              <a:ext cx="1224439" cy="914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500" dirty="0">
                  <a:solidFill>
                    <a:srgbClr val="EB7954"/>
                  </a:solidFill>
                  <a:latin typeface="Arial"/>
                  <a:ea typeface="Microsoft YaHei"/>
                  <a:cs typeface="Arial"/>
                </a:rPr>
                <a:t>25%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8835390" y="3558540"/>
              <a:ext cx="2398014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0B2233"/>
                  </a:solidFill>
                  <a:latin typeface="Arial"/>
                  <a:ea typeface="Microsoft YaHei"/>
                  <a:cs typeface="Arial"/>
                </a:rPr>
                <a:t>实际：5条失败 / 20条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8835390" y="4234815"/>
              <a:ext cx="1473899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1B9E9A"/>
                  </a:solidFill>
                  <a:latin typeface="Arial"/>
                  <a:ea typeface="Microsoft YaHei"/>
                  <a:cs typeface="Arial"/>
                </a:rPr>
                <a:t>预测：3.61%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8835390" y="4682490"/>
              <a:ext cx="1005840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607484"/>
                  </a:solidFill>
                  <a:latin typeface="Arial"/>
                  <a:ea typeface="Microsoft YaHei"/>
                  <a:cs typeface="Arial"/>
                </a:rPr>
                <a:t>绝对误差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8829675" y="5024438"/>
              <a:ext cx="2082403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dirty="0">
                  <a:solidFill>
                    <a:srgbClr val="0B2233"/>
                  </a:solidFill>
                  <a:latin typeface="Arial"/>
                  <a:ea typeface="Microsoft YaHei"/>
                  <a:cs typeface="Arial"/>
                </a:rPr>
                <a:t>21.39个百分点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8841105" y="5645468"/>
              <a:ext cx="2374582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607484"/>
                  </a:solidFill>
                  <a:latin typeface="Arial"/>
                  <a:ea typeface="Microsoft YaHei"/>
                  <a:cs typeface="Arial"/>
                </a:rPr>
                <a:t>突发波动仍需实际检测发现。</a:t>
              </a:r>
            </a:p>
          </p:txBody>
        </p:sp>
      </p:grpSp>
      <p:sp>
        <p:nvSpPr>
          <p:cNvPr id="39" name="TextBox 39"/>
          <p:cNvSpPr txBox="1"/>
          <p:nvPr/>
        </p:nvSpPr>
        <p:spPr>
          <a:xfrm>
            <a:off x="558165" y="6363652"/>
            <a:ext cx="4101179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07484"/>
                </a:solidFill>
                <a:latin typeface="Arial"/>
                <a:ea typeface="Microsoft YaHei"/>
                <a:cs typeface="Arial"/>
              </a:rPr>
              <a:t>来源：后16组一步滚动预测。真实值与预测值均按不合格率展示。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11226165" y="6363652"/>
            <a:ext cx="495729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07484"/>
                </a:solidFill>
                <a:latin typeface="Arial"/>
                <a:ea typeface="Microsoft YaHei"/>
                <a:cs typeface="Arial"/>
              </a:rPr>
              <a:t>07 / 09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1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3" dur="4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20" grpId="0"/>
      <p:bldP spid="24" grpId="0"/>
      <p:bldP spid="29" grpId="0"/>
      <p:bldP spid="38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2F6F7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533400" y="501968"/>
            <a:ext cx="7217092" cy="1422082"/>
            <a:chOff x="533400" y="501968"/>
            <a:chExt cx="7217092" cy="1422082"/>
          </a:xfrm>
        </p:grpSpPr>
        <p:sp>
          <p:nvSpPr>
            <p:cNvPr id="3" name="TextBox 3"/>
            <p:cNvSpPr txBox="1"/>
            <p:nvPr/>
          </p:nvSpPr>
          <p:spPr>
            <a:xfrm>
              <a:off x="554355" y="501968"/>
              <a:ext cx="75438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B9E9A"/>
                  </a:solidFill>
                  <a:latin typeface="Arial"/>
                  <a:ea typeface="Microsoft YaHei"/>
                  <a:cs typeface="Arial"/>
                </a:rPr>
                <a:t>效果比较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33400" y="952500"/>
              <a:ext cx="7217092" cy="609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rgbClr val="0B2233"/>
                  </a:solidFill>
                  <a:latin typeface="Arial"/>
                  <a:ea typeface="Microsoft YaHei"/>
                  <a:cs typeface="Arial"/>
                </a:rPr>
                <a:t>平均绝对误差下降，较大误差没有改善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567690" y="1558290"/>
              <a:ext cx="4390263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607484"/>
                  </a:solidFill>
                  <a:latin typeface="Arial"/>
                  <a:ea typeface="Microsoft YaHei"/>
                  <a:cs typeface="Arial"/>
                </a:rPr>
                <a:t>同样的16组后续记录，同样的可用历史。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596265" y="2253615"/>
            <a:ext cx="5907786" cy="3875723"/>
            <a:chOff x="596265" y="2253615"/>
            <a:chExt cx="5907786" cy="3875723"/>
          </a:xfrm>
        </p:grpSpPr>
        <p:sp>
          <p:nvSpPr>
            <p:cNvPr id="7" name="TextBox 7"/>
            <p:cNvSpPr txBox="1"/>
            <p:nvPr/>
          </p:nvSpPr>
          <p:spPr>
            <a:xfrm>
              <a:off x="596265" y="2253615"/>
              <a:ext cx="3202114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0B2233"/>
                  </a:solidFill>
                  <a:latin typeface="Arial"/>
                  <a:ea typeface="Microsoft YaHei"/>
                  <a:cs typeface="Arial"/>
                </a:rPr>
                <a:t>平均绝对误差 MAE（百分点）</a:t>
              </a:r>
            </a:p>
          </p:txBody>
        </p:sp>
        <p:sp>
          <p:nvSpPr>
            <p:cNvPr id="8" name="Line 8"/>
            <p:cNvSpPr/>
            <p:nvPr/>
          </p:nvSpPr>
          <p:spPr>
            <a:xfrm>
              <a:off x="2333625" y="2762250"/>
              <a:ext cx="9525" cy="2571750"/>
            </a:xfrm>
            <a:custGeom>
              <a:avLst/>
              <a:gdLst/>
              <a:ahLst/>
              <a:cxnLst/>
              <a:rect l="l" t="t" r="r" b="b"/>
              <a:pathLst>
                <a:path w="9525" h="2571750">
                  <a:moveTo>
                    <a:pt x="0" y="0"/>
                  </a:moveTo>
                  <a:lnTo>
                    <a:pt x="0" y="2571750"/>
                  </a:lnTo>
                </a:path>
              </a:pathLst>
            </a:custGeom>
            <a:noFill/>
            <a:ln w="9525">
              <a:solidFill>
                <a:srgbClr val="607484"/>
              </a:solidFill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596265" y="3015615"/>
              <a:ext cx="693801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0B2233"/>
                  </a:solidFill>
                  <a:latin typeface="Arial"/>
                  <a:ea typeface="Microsoft YaHei"/>
                  <a:cs typeface="Arial"/>
                </a:rPr>
                <a:t>ARIMA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2333625" y="2867025"/>
              <a:ext cx="3127438" cy="495300"/>
            </a:xfrm>
            <a:prstGeom prst="rect">
              <a:avLst/>
            </a:prstGeom>
            <a:solidFill>
              <a:srgbClr val="1B9E9A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5596890" y="3006090"/>
              <a:ext cx="573786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1B9E9A"/>
                  </a:solidFill>
                  <a:latin typeface="Arial"/>
                  <a:ea typeface="Microsoft YaHei"/>
                  <a:cs typeface="Arial"/>
                </a:rPr>
                <a:t>5.47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596265" y="3872865"/>
              <a:ext cx="1485900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0B2233"/>
                  </a:solidFill>
                  <a:latin typeface="Arial"/>
                  <a:ea typeface="Microsoft YaHei"/>
                  <a:cs typeface="Arial"/>
                </a:rPr>
                <a:t>历史累计平均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2333625" y="3724275"/>
              <a:ext cx="3473863" cy="495300"/>
            </a:xfrm>
            <a:prstGeom prst="rect">
              <a:avLst/>
            </a:prstGeom>
            <a:solidFill>
              <a:srgbClr val="607484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5930265" y="3863340"/>
              <a:ext cx="573786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607484"/>
                  </a:solidFill>
                  <a:latin typeface="Arial"/>
                  <a:ea typeface="Microsoft YaHei"/>
                  <a:cs typeface="Arial"/>
                </a:rPr>
                <a:t>6.08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596265" y="4730115"/>
              <a:ext cx="1137856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0B2233"/>
                  </a:solidFill>
                  <a:latin typeface="Arial"/>
                  <a:ea typeface="Microsoft YaHei"/>
                  <a:cs typeface="Arial"/>
                </a:rPr>
                <a:t>前5组平均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2333625" y="4581525"/>
              <a:ext cx="3393281" cy="495300"/>
            </a:xfrm>
            <a:prstGeom prst="rect">
              <a:avLst/>
            </a:prstGeom>
            <a:solidFill>
              <a:srgbClr val="EB7954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5882640" y="4720590"/>
              <a:ext cx="573786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EB7954"/>
                  </a:solidFill>
                  <a:latin typeface="Arial"/>
                  <a:ea typeface="Microsoft YaHei"/>
                  <a:cs typeface="Arial"/>
                </a:rPr>
                <a:t>5.94</a:t>
              </a:r>
            </a:p>
          </p:txBody>
        </p:sp>
        <p:grpSp>
          <p:nvGrpSpPr>
            <p:cNvPr id="23" name="Group 23"/>
            <p:cNvGrpSpPr/>
            <p:nvPr/>
          </p:nvGrpSpPr>
          <p:grpSpPr>
            <a:xfrm>
              <a:off x="601980" y="5426392"/>
              <a:ext cx="5229177" cy="702946"/>
              <a:chOff x="601980" y="5426392"/>
              <a:chExt cx="5229177" cy="702946"/>
            </a:xfrm>
          </p:grpSpPr>
          <p:sp>
            <p:nvSpPr>
              <p:cNvPr id="18" name="TextBox 18"/>
              <p:cNvSpPr txBox="1"/>
              <p:nvPr/>
            </p:nvSpPr>
            <p:spPr>
              <a:xfrm>
                <a:off x="2268855" y="5426392"/>
                <a:ext cx="133302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rgbClr val="607484"/>
                    </a:solidFill>
                    <a:latin typeface="Arial"/>
                    <a:ea typeface="Microsoft YaHei"/>
                    <a:cs typeface="Arial"/>
                  </a:rPr>
                  <a:t>0</a:t>
                </a:r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3411855" y="5426392"/>
                <a:ext cx="133302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rgbClr val="607484"/>
                    </a:solidFill>
                    <a:latin typeface="Arial"/>
                    <a:ea typeface="Microsoft YaHei"/>
                    <a:cs typeface="Arial"/>
                  </a:rPr>
                  <a:t>2</a:t>
                </a:r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4554855" y="5426392"/>
                <a:ext cx="133302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rgbClr val="607484"/>
                    </a:solidFill>
                    <a:latin typeface="Arial"/>
                    <a:ea typeface="Microsoft YaHei"/>
                    <a:cs typeface="Arial"/>
                  </a:rPr>
                  <a:t>4</a:t>
                </a:r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5697855" y="5426392"/>
                <a:ext cx="133302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rgbClr val="607484"/>
                    </a:solidFill>
                    <a:latin typeface="Arial"/>
                    <a:ea typeface="Microsoft YaHei"/>
                    <a:cs typeface="Arial"/>
                  </a:rPr>
                  <a:t>6</a:t>
                </a:r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601980" y="5855018"/>
                <a:ext cx="2554605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rgbClr val="607484"/>
                    </a:solidFill>
                    <a:latin typeface="Arial"/>
                    <a:ea typeface="Microsoft YaHei"/>
                    <a:cs typeface="Arial"/>
                  </a:rPr>
                  <a:t>数值越低，平均预测误差越小。</a:t>
                </a:r>
              </a:p>
            </p:txBody>
          </p:sp>
        </p:grpSp>
      </p:grpSp>
      <p:grpSp>
        <p:nvGrpSpPr>
          <p:cNvPr id="28" name="Group 28"/>
          <p:cNvGrpSpPr/>
          <p:nvPr/>
        </p:nvGrpSpPr>
        <p:grpSpPr>
          <a:xfrm>
            <a:off x="7286625" y="2339340"/>
            <a:ext cx="2854071" cy="1699260"/>
            <a:chOff x="7286625" y="2339340"/>
            <a:chExt cx="2854071" cy="1699260"/>
          </a:xfrm>
        </p:grpSpPr>
        <p:sp>
          <p:nvSpPr>
            <p:cNvPr id="25" name="TextBox 25"/>
            <p:cNvSpPr txBox="1"/>
            <p:nvPr/>
          </p:nvSpPr>
          <p:spPr>
            <a:xfrm>
              <a:off x="7406640" y="2339340"/>
              <a:ext cx="2650046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607484"/>
                  </a:solidFill>
                  <a:latin typeface="Arial"/>
                  <a:ea typeface="Microsoft YaHei"/>
                  <a:cs typeface="Arial"/>
                </a:rPr>
                <a:t>MAE相对历史平均法降低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7286625" y="2781300"/>
              <a:ext cx="2512695" cy="1219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000" dirty="0">
                  <a:solidFill>
                    <a:srgbClr val="1B9E9A"/>
                  </a:solidFill>
                  <a:latin typeface="Arial"/>
                  <a:ea typeface="Microsoft YaHei"/>
                  <a:cs typeface="Arial"/>
                </a:rPr>
                <a:t>9.97%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406640" y="3672840"/>
              <a:ext cx="2734056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607484"/>
                  </a:solidFill>
                  <a:latin typeface="Arial"/>
                  <a:ea typeface="Microsoft YaHei"/>
                  <a:cs typeface="Arial"/>
                </a:rPr>
                <a:t>绝对减少约0.61个百分点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7406640" y="4305300"/>
            <a:ext cx="4118610" cy="1895475"/>
            <a:chOff x="7406640" y="4305300"/>
            <a:chExt cx="4118610" cy="1895475"/>
          </a:xfrm>
        </p:grpSpPr>
        <p:sp>
          <p:nvSpPr>
            <p:cNvPr id="29" name="Line 29"/>
            <p:cNvSpPr/>
            <p:nvPr/>
          </p:nvSpPr>
          <p:spPr>
            <a:xfrm>
              <a:off x="7429500" y="4305300"/>
              <a:ext cx="4095750" cy="9525"/>
            </a:xfrm>
            <a:custGeom>
              <a:avLst/>
              <a:gdLst/>
              <a:ahLst/>
              <a:cxnLst/>
              <a:rect l="l" t="t" r="r" b="b"/>
              <a:pathLst>
                <a:path w="4095750" h="9525">
                  <a:moveTo>
                    <a:pt x="0" y="0"/>
                  </a:moveTo>
                  <a:lnTo>
                    <a:pt x="4095750" y="0"/>
                  </a:lnTo>
                </a:path>
              </a:pathLst>
            </a:custGeom>
            <a:noFill/>
            <a:ln w="9525">
              <a:solidFill>
                <a:srgbClr val="D7E2E7"/>
              </a:solidFill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7406640" y="4501515"/>
              <a:ext cx="2277999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0B2233"/>
                  </a:solidFill>
                  <a:latin typeface="Arial"/>
                  <a:ea typeface="Microsoft YaHei"/>
                  <a:cs typeface="Arial"/>
                </a:rPr>
                <a:t>RMSE：ARIMA为7.49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7406640" y="4911090"/>
              <a:ext cx="3430143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607484"/>
                  </a:solidFill>
                  <a:latin typeface="Arial"/>
                  <a:ea typeface="Microsoft YaHei"/>
                  <a:cs typeface="Arial"/>
                </a:rPr>
                <a:t>历史平均7.22 · 前5组平均7.34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7406640" y="5482590"/>
              <a:ext cx="2205990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0B2233"/>
                  </a:solidFill>
                  <a:latin typeface="Arial"/>
                  <a:ea typeface="Microsoft YaHei"/>
                  <a:cs typeface="Arial"/>
                </a:rPr>
                <a:t>需要同时看平均误差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7406640" y="5835015"/>
              <a:ext cx="1485900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0B2233"/>
                  </a:solidFill>
                  <a:latin typeface="Arial"/>
                  <a:ea typeface="Microsoft YaHei"/>
                  <a:cs typeface="Arial"/>
                </a:rPr>
                <a:t>与较大误差。</a:t>
              </a:r>
            </a:p>
          </p:txBody>
        </p:sp>
      </p:grpSp>
      <p:sp>
        <p:nvSpPr>
          <p:cNvPr id="35" name="TextBox 35"/>
          <p:cNvSpPr txBox="1"/>
          <p:nvPr/>
        </p:nvSpPr>
        <p:spPr>
          <a:xfrm>
            <a:off x="558165" y="6363652"/>
            <a:ext cx="5396341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07484"/>
                </a:solidFill>
                <a:latin typeface="Arial"/>
                <a:ea typeface="Microsoft YaHei"/>
                <a:cs typeface="Arial"/>
              </a:rPr>
              <a:t>来源：本次16组滚动检验。MAE、RMSE单位均为百分点，按未四舍五入数值计算降幅。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11226165" y="6363652"/>
            <a:ext cx="495729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07484"/>
                </a:solidFill>
                <a:latin typeface="Arial"/>
                <a:ea typeface="Microsoft YaHei"/>
                <a:cs typeface="Arial"/>
              </a:rPr>
              <a:t>08 / 09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9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24" grpId="0"/>
      <p:bldP spid="28" grpId="0"/>
      <p:bldP spid="34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2233"/>
          </a:solidFill>
          <a:ln>
            <a:noFill/>
          </a:ln>
        </p:spPr>
      </p:sp>
      <p:grpSp>
        <p:nvGrpSpPr>
          <p:cNvPr id="5" name="Group 5"/>
          <p:cNvGrpSpPr/>
          <p:nvPr/>
        </p:nvGrpSpPr>
        <p:grpSpPr>
          <a:xfrm>
            <a:off x="533400" y="501968"/>
            <a:ext cx="6376988" cy="1174432"/>
            <a:chOff x="533400" y="501968"/>
            <a:chExt cx="6376988" cy="1174432"/>
          </a:xfrm>
        </p:grpSpPr>
        <p:sp>
          <p:nvSpPr>
            <p:cNvPr id="3" name="TextBox 3"/>
            <p:cNvSpPr txBox="1"/>
            <p:nvPr/>
          </p:nvSpPr>
          <p:spPr>
            <a:xfrm>
              <a:off x="554355" y="501968"/>
              <a:ext cx="75438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B9E9A"/>
                  </a:solidFill>
                  <a:latin typeface="Arial"/>
                  <a:ea typeface="Microsoft YaHei"/>
                  <a:cs typeface="Arial"/>
                </a:rPr>
                <a:t>管理启示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33400" y="1066800"/>
              <a:ext cx="6376988" cy="609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用预测辅助检查，用检验选择方法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581025" y="2381250"/>
            <a:ext cx="4876800" cy="3000375"/>
            <a:chOff x="581025" y="2381250"/>
            <a:chExt cx="4876800" cy="3000375"/>
          </a:xfrm>
        </p:grpSpPr>
        <p:sp>
          <p:nvSpPr>
            <p:cNvPr id="6" name="TextBox 6"/>
            <p:cNvSpPr txBox="1"/>
            <p:nvPr/>
          </p:nvSpPr>
          <p:spPr>
            <a:xfrm>
              <a:off x="581025" y="2381250"/>
              <a:ext cx="3956685" cy="609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我用ARIMA预测下一组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581025" y="2981325"/>
              <a:ext cx="4076700" cy="609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检测样本的不合格率，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581025" y="3581400"/>
              <a:ext cx="4876800" cy="609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dirty="0">
                  <a:solidFill>
                    <a:srgbClr val="1B9E9A"/>
                  </a:solidFill>
                  <a:latin typeface="Arial"/>
                  <a:ea typeface="Microsoft YaHei"/>
                  <a:cs typeface="Arial"/>
                </a:rPr>
                <a:t>再检验它是否优于平均法。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596265" y="4615815"/>
              <a:ext cx="3370136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D7E2E7"/>
                  </a:solidFill>
                  <a:latin typeface="Arial"/>
                  <a:ea typeface="Microsoft YaHei"/>
                  <a:cs typeface="Arial"/>
                </a:rPr>
                <a:t>本次平均绝对误差改善约10%，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596265" y="5015865"/>
              <a:ext cx="3886200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D7E2E7"/>
                  </a:solidFill>
                  <a:latin typeface="Arial"/>
                  <a:ea typeface="Microsoft YaHei"/>
                  <a:cs typeface="Arial"/>
                </a:rPr>
                <a:t>较大的波动仍需要实际检测与核实。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7762875" y="2333625"/>
            <a:ext cx="3762375" cy="3581400"/>
            <a:chOff x="7762875" y="2333625"/>
            <a:chExt cx="3762375" cy="3581400"/>
          </a:xfrm>
        </p:grpSpPr>
        <p:sp>
          <p:nvSpPr>
            <p:cNvPr id="12" name="Line 12"/>
            <p:cNvSpPr/>
            <p:nvPr/>
          </p:nvSpPr>
          <p:spPr>
            <a:xfrm>
              <a:off x="7762875" y="2333625"/>
              <a:ext cx="3762375" cy="9525"/>
            </a:xfrm>
            <a:custGeom>
              <a:avLst/>
              <a:gdLst/>
              <a:ahLst/>
              <a:cxnLst/>
              <a:rect l="l" t="t" r="r" b="b"/>
              <a:pathLst>
                <a:path w="3762375" h="9525">
                  <a:moveTo>
                    <a:pt x="0" y="0"/>
                  </a:moveTo>
                  <a:lnTo>
                    <a:pt x="3762375" y="0"/>
                  </a:lnTo>
                </a:path>
              </a:pathLst>
            </a:custGeom>
            <a:noFill/>
            <a:ln w="28575">
              <a:solidFill>
                <a:srgbClr val="1B9E9A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7924800" y="2595562"/>
              <a:ext cx="2757488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保留简单方法作对照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930515" y="3053715"/>
              <a:ext cx="2926080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D7E2E7"/>
                  </a:solidFill>
                  <a:latin typeface="Arial"/>
                  <a:ea typeface="Microsoft YaHei"/>
                  <a:cs typeface="Arial"/>
                </a:rPr>
                <a:t>通过预测效果判断模型价值</a:t>
              </a:r>
            </a:p>
          </p:txBody>
        </p:sp>
        <p:sp>
          <p:nvSpPr>
            <p:cNvPr id="15" name="Line 15"/>
            <p:cNvSpPr/>
            <p:nvPr/>
          </p:nvSpPr>
          <p:spPr>
            <a:xfrm>
              <a:off x="7762875" y="3619500"/>
              <a:ext cx="3762375" cy="9525"/>
            </a:xfrm>
            <a:custGeom>
              <a:avLst/>
              <a:gdLst/>
              <a:ahLst/>
              <a:cxnLst/>
              <a:rect l="l" t="t" r="r" b="b"/>
              <a:pathLst>
                <a:path w="3762375" h="9525">
                  <a:moveTo>
                    <a:pt x="0" y="0"/>
                  </a:moveTo>
                  <a:lnTo>
                    <a:pt x="3762375" y="0"/>
                  </a:lnTo>
                </a:path>
              </a:pathLst>
            </a:custGeom>
            <a:noFill/>
            <a:ln w="9525">
              <a:solidFill>
                <a:srgbClr val="607484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7924800" y="3843338"/>
              <a:ext cx="3057525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结合实际检测安排检查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930515" y="4301490"/>
              <a:ext cx="2446020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D7E2E7"/>
                  </a:solidFill>
                  <a:latin typeface="Arial"/>
                  <a:ea typeface="Microsoft YaHei"/>
                  <a:cs typeface="Arial"/>
                </a:rPr>
                <a:t>关注预测与实测的偏离</a:t>
              </a:r>
            </a:p>
          </p:txBody>
        </p:sp>
        <p:sp>
          <p:nvSpPr>
            <p:cNvPr id="18" name="Line 18"/>
            <p:cNvSpPr/>
            <p:nvPr/>
          </p:nvSpPr>
          <p:spPr>
            <a:xfrm>
              <a:off x="7762875" y="4867275"/>
              <a:ext cx="3762375" cy="9525"/>
            </a:xfrm>
            <a:custGeom>
              <a:avLst/>
              <a:gdLst/>
              <a:ahLst/>
              <a:cxnLst/>
              <a:rect l="l" t="t" r="r" b="b"/>
              <a:pathLst>
                <a:path w="3762375" h="9525">
                  <a:moveTo>
                    <a:pt x="0" y="0"/>
                  </a:moveTo>
                  <a:lnTo>
                    <a:pt x="3762375" y="0"/>
                  </a:lnTo>
                </a:path>
              </a:pathLst>
            </a:custGeom>
            <a:noFill/>
            <a:ln w="9525">
              <a:solidFill>
                <a:srgbClr val="607484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7924800" y="5091112"/>
              <a:ext cx="2757488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进一步加入过程信息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7930515" y="5549265"/>
              <a:ext cx="2686050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D7E2E7"/>
                  </a:solidFill>
                  <a:latin typeface="Arial"/>
                  <a:ea typeface="Microsoft YaHei"/>
                  <a:cs typeface="Arial"/>
                </a:rPr>
                <a:t>研究设备状态与工艺参数</a:t>
              </a:r>
            </a:p>
          </p:txBody>
        </p:sp>
      </p:grpSp>
      <p:sp>
        <p:nvSpPr>
          <p:cNvPr id="22" name="TextBox 22"/>
          <p:cNvSpPr txBox="1"/>
          <p:nvPr/>
        </p:nvSpPr>
        <p:spPr>
          <a:xfrm>
            <a:off x="558165" y="6363652"/>
            <a:ext cx="319106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D7E2E7"/>
                </a:solidFill>
                <a:latin typeface="Arial"/>
                <a:ea typeface="Microsoft YaHei"/>
                <a:cs typeface="Arial"/>
              </a:rPr>
              <a:t>质量管理学课程汇报 · 孙德鑫 ｜ 数据：UCI SECOM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1226165" y="6363652"/>
            <a:ext cx="495729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D7E2E7"/>
                </a:solidFill>
                <a:latin typeface="Arial"/>
                <a:ea typeface="Microsoft YaHei"/>
                <a:cs typeface="Arial"/>
              </a:rPr>
              <a:t>09 / 09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11" grpId="0"/>
      <p:bldP spid="21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9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/>
  <cp:lastModifiedBy/>
  <cp:revision>1</cp:revision>
  <dcterms:created xsi:type="dcterms:W3CDTF">2026-10-27T13:40:16Z</dcterms:created>
  <dcterms:modified xsi:type="dcterms:W3CDTF">2026-10-27T13:40:16Z</dcterms:modified>
  <cp:category/>
  <cp:contentStatus/>
</cp:coreProperties>
</file>